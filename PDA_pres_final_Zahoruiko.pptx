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91" r:id="rId4"/>
    <p:sldId id="292" r:id="rId5"/>
    <p:sldId id="293" r:id="rId6"/>
    <p:sldId id="294" r:id="rId7"/>
    <p:sldId id="282" r:id="rId8"/>
    <p:sldId id="295" r:id="rId9"/>
    <p:sldId id="296" r:id="rId10"/>
    <p:sldId id="297" r:id="rId11"/>
    <p:sldId id="272" r:id="rId12"/>
    <p:sldId id="273" r:id="rId13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5"/>
      <p:bold r:id="rId16"/>
      <p:italic r:id="rId17"/>
      <p:boldItalic r:id="rId18"/>
    </p:embeddedFont>
    <p:embeddedFont>
      <p:font typeface="Fira Sans Extra Condensed" panose="020F0502020204030204" pitchFamily="34" charset="0"/>
      <p:regular r:id="rId19"/>
      <p:bold r:id="rId20"/>
      <p:italic r:id="rId21"/>
      <p:boldItalic r:id="rId22"/>
    </p:embeddedFont>
    <p:embeddedFont>
      <p:font typeface="Fira Sans Extra Condensed Medium" panose="020B0603050000020004" pitchFamily="34" charset="0"/>
      <p:regular r:id="rId23"/>
      <p:bold r:id="rId24"/>
      <p:italic r:id="rId25"/>
      <p:boldItalic r:id="rId26"/>
    </p:embeddedFont>
    <p:embeddedFont>
      <p:font typeface="Fira Sans Extra Condensed SemiBold" panose="020B0603050000020004" pitchFamily="3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4"/>
    <p:restoredTop sz="94648"/>
  </p:normalViewPr>
  <p:slideViewPr>
    <p:cSldViewPr snapToGrid="0">
      <p:cViewPr varScale="1">
        <p:scale>
          <a:sx n="156" d="100"/>
          <a:sy n="156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d206afaa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d206afaa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2a8583979_0_8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2a8583979_0_8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9c73459845_0_3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9c73459845_0_3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9c73459845_0_1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9c73459845_0_17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9c73459845_0_1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9c73459845_0_1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987355" y="1629550"/>
            <a:ext cx="4467450" cy="15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Онлайн-</a:t>
            </a:r>
            <a:r>
              <a:rPr lang="de-DE" sz="3200" dirty="0" err="1"/>
              <a:t>ш</a:t>
            </a:r>
            <a:r>
              <a:rPr lang="ru-RU" sz="3200" dirty="0"/>
              <a:t>кола программирования Х</a:t>
            </a:r>
            <a:endParaRPr lang="de-DE" sz="3200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987355" y="2970700"/>
            <a:ext cx="36072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Анализ данных</a:t>
            </a:r>
            <a:endParaRPr dirty="0"/>
          </a:p>
        </p:txBody>
      </p:sp>
      <p:sp>
        <p:nvSpPr>
          <p:cNvPr id="59" name="Google Shape;59;p15"/>
          <p:cNvSpPr/>
          <p:nvPr/>
        </p:nvSpPr>
        <p:spPr>
          <a:xfrm rot="5400000">
            <a:off x="7464244" y="3469259"/>
            <a:ext cx="692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0" name="Google Shape;60;p15"/>
          <p:cNvSpPr/>
          <p:nvPr/>
        </p:nvSpPr>
        <p:spPr>
          <a:xfrm rot="5400000">
            <a:off x="6633319" y="3469259"/>
            <a:ext cx="692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1" name="Google Shape;61;p15"/>
          <p:cNvSpPr/>
          <p:nvPr/>
        </p:nvSpPr>
        <p:spPr>
          <a:xfrm rot="5400000">
            <a:off x="5802394" y="3469259"/>
            <a:ext cx="692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2" name="Google Shape;62;p15"/>
          <p:cNvSpPr/>
          <p:nvPr/>
        </p:nvSpPr>
        <p:spPr>
          <a:xfrm rot="5400000">
            <a:off x="4971469" y="3469259"/>
            <a:ext cx="692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" name="Google Shape;63;p15"/>
          <p:cNvSpPr/>
          <p:nvPr/>
        </p:nvSpPr>
        <p:spPr>
          <a:xfrm rot="5400000">
            <a:off x="5980990" y="962641"/>
            <a:ext cx="1230000" cy="1268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" name="Google Shape;64;p15"/>
          <p:cNvGrpSpPr/>
          <p:nvPr/>
        </p:nvGrpSpPr>
        <p:grpSpPr>
          <a:xfrm>
            <a:off x="6373463" y="1220354"/>
            <a:ext cx="379746" cy="379756"/>
            <a:chOff x="-2571737" y="2403625"/>
            <a:chExt cx="292225" cy="291425"/>
          </a:xfrm>
        </p:grpSpPr>
        <p:sp>
          <p:nvSpPr>
            <p:cNvPr id="65" name="Google Shape;65;p15"/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15"/>
          <p:cNvSpPr/>
          <p:nvPr/>
        </p:nvSpPr>
        <p:spPr>
          <a:xfrm>
            <a:off x="5838205" y="1687645"/>
            <a:ext cx="1450500" cy="28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Big Data</a:t>
            </a:r>
            <a:endParaRPr sz="19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73" name="Google Shape;73;p15"/>
          <p:cNvCxnSpPr>
            <a:stCxn id="63" idx="3"/>
            <a:endCxn id="62" idx="2"/>
          </p:cNvCxnSpPr>
          <p:nvPr/>
        </p:nvCxnSpPr>
        <p:spPr>
          <a:xfrm rot="5400000">
            <a:off x="5328190" y="2201341"/>
            <a:ext cx="1257300" cy="12783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5"/>
          <p:cNvCxnSpPr>
            <a:stCxn id="63" idx="3"/>
            <a:endCxn id="61" idx="2"/>
          </p:cNvCxnSpPr>
          <p:nvPr/>
        </p:nvCxnSpPr>
        <p:spPr>
          <a:xfrm rot="5400000">
            <a:off x="5743690" y="2616841"/>
            <a:ext cx="1257300" cy="4473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5"/>
          <p:cNvCxnSpPr>
            <a:stCxn id="63" idx="3"/>
            <a:endCxn id="60" idx="2"/>
          </p:cNvCxnSpPr>
          <p:nvPr/>
        </p:nvCxnSpPr>
        <p:spPr>
          <a:xfrm rot="-5400000" flipH="1">
            <a:off x="6159040" y="2648791"/>
            <a:ext cx="1257300" cy="3834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5"/>
          <p:cNvCxnSpPr>
            <a:stCxn id="63" idx="3"/>
            <a:endCxn id="59" idx="2"/>
          </p:cNvCxnSpPr>
          <p:nvPr/>
        </p:nvCxnSpPr>
        <p:spPr>
          <a:xfrm rot="-5400000" flipH="1">
            <a:off x="6574540" y="2233291"/>
            <a:ext cx="1257300" cy="12144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" name="Google Shape;77;p15"/>
          <p:cNvGrpSpPr/>
          <p:nvPr/>
        </p:nvGrpSpPr>
        <p:grpSpPr>
          <a:xfrm>
            <a:off x="5142093" y="3632583"/>
            <a:ext cx="351136" cy="365769"/>
            <a:chOff x="-65129950" y="2646800"/>
            <a:chExt cx="311125" cy="317425"/>
          </a:xfrm>
        </p:grpSpPr>
        <p:sp>
          <p:nvSpPr>
            <p:cNvPr id="78" name="Google Shape;78;p15"/>
            <p:cNvSpPr/>
            <p:nvPr/>
          </p:nvSpPr>
          <p:spPr>
            <a:xfrm>
              <a:off x="-65129950" y="2646800"/>
              <a:ext cx="311125" cy="317425"/>
            </a:xfrm>
            <a:custGeom>
              <a:avLst/>
              <a:gdLst/>
              <a:ahLst/>
              <a:cxnLst/>
              <a:rect l="l" t="t" r="r" b="b"/>
              <a:pathLst>
                <a:path w="12445" h="12697" extrusionOk="0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-65066950" y="2738175"/>
              <a:ext cx="187475" cy="185100"/>
            </a:xfrm>
            <a:custGeom>
              <a:avLst/>
              <a:gdLst/>
              <a:ahLst/>
              <a:cxnLst/>
              <a:rect l="l" t="t" r="r" b="b"/>
              <a:pathLst>
                <a:path w="7499" h="7404" extrusionOk="0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5965703" y="3632603"/>
            <a:ext cx="365756" cy="365747"/>
            <a:chOff x="1412450" y="1954475"/>
            <a:chExt cx="297750" cy="296175"/>
          </a:xfrm>
        </p:grpSpPr>
        <p:sp>
          <p:nvSpPr>
            <p:cNvPr id="81" name="Google Shape;81;p15"/>
            <p:cNvSpPr/>
            <p:nvPr/>
          </p:nvSpPr>
          <p:spPr>
            <a:xfrm>
              <a:off x="1483350" y="2023800"/>
              <a:ext cx="155975" cy="155975"/>
            </a:xfrm>
            <a:custGeom>
              <a:avLst/>
              <a:gdLst/>
              <a:ahLst/>
              <a:cxnLst/>
              <a:rect l="l" t="t" r="r" b="b"/>
              <a:pathLst>
                <a:path w="6239" h="6239" extrusionOk="0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412450" y="1954475"/>
              <a:ext cx="297750" cy="296175"/>
            </a:xfrm>
            <a:custGeom>
              <a:avLst/>
              <a:gdLst/>
              <a:ahLst/>
              <a:cxnLst/>
              <a:rect l="l" t="t" r="r" b="b"/>
              <a:pathLst>
                <a:path w="11910" h="11847" extrusionOk="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6782916" y="3632592"/>
            <a:ext cx="393186" cy="365766"/>
            <a:chOff x="-62890750" y="2296300"/>
            <a:chExt cx="330825" cy="317450"/>
          </a:xfrm>
        </p:grpSpPr>
        <p:sp>
          <p:nvSpPr>
            <p:cNvPr id="84" name="Google Shape;84;p15"/>
            <p:cNvSpPr/>
            <p:nvPr/>
          </p:nvSpPr>
          <p:spPr>
            <a:xfrm>
              <a:off x="-62890750" y="2296300"/>
              <a:ext cx="313500" cy="195375"/>
            </a:xfrm>
            <a:custGeom>
              <a:avLst/>
              <a:gdLst/>
              <a:ahLst/>
              <a:cxnLst/>
              <a:rect l="l" t="t" r="r" b="b"/>
              <a:pathLst>
                <a:path w="12540" h="7815" extrusionOk="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-62874975" y="2417475"/>
              <a:ext cx="315050" cy="196275"/>
            </a:xfrm>
            <a:custGeom>
              <a:avLst/>
              <a:gdLst/>
              <a:ahLst/>
              <a:cxnLst/>
              <a:rect l="l" t="t" r="r" b="b"/>
              <a:pathLst>
                <a:path w="12602" h="7851" extrusionOk="0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-62822225" y="2357750"/>
              <a:ext cx="193000" cy="192975"/>
            </a:xfrm>
            <a:custGeom>
              <a:avLst/>
              <a:gdLst/>
              <a:ahLst/>
              <a:cxnLst/>
              <a:rect l="l" t="t" r="r" b="b"/>
              <a:pathLst>
                <a:path w="7720" h="7719" extrusionOk="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7627546" y="3632577"/>
            <a:ext cx="365770" cy="365770"/>
            <a:chOff x="-3137650" y="2408950"/>
            <a:chExt cx="291450" cy="292125"/>
          </a:xfrm>
        </p:grpSpPr>
        <p:sp>
          <p:nvSpPr>
            <p:cNvPr id="88" name="Google Shape;88;p15"/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 rot="10800000">
            <a:off x="514350" y="2114016"/>
            <a:ext cx="4556250" cy="1233241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4073650" y="1259075"/>
            <a:ext cx="4613150" cy="1135184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</a:rPr>
              <a:t>С</a:t>
            </a:r>
            <a:r>
              <a:rPr lang="de-DE" dirty="0">
                <a:solidFill>
                  <a:schemeClr val="dk1"/>
                </a:solidFill>
              </a:rPr>
              <a:t>RM </a:t>
            </a:r>
            <a:r>
              <a:rPr lang="ru-RU" dirty="0">
                <a:solidFill>
                  <a:schemeClr val="dk1"/>
                </a:solidFill>
              </a:rPr>
              <a:t>система</a:t>
            </a:r>
            <a:r>
              <a:rPr lang="de-DE" dirty="0">
                <a:solidFill>
                  <a:schemeClr val="dk1"/>
                </a:solidFill>
              </a:rPr>
              <a:t>: </a:t>
            </a:r>
            <a:r>
              <a:rPr lang="de-DE" dirty="0" err="1">
                <a:solidFill>
                  <a:schemeClr val="dk1"/>
                </a:solidFill>
              </a:rPr>
              <a:t>д</a:t>
            </a:r>
            <a:r>
              <a:rPr lang="ru-RU" dirty="0" err="1">
                <a:solidFill>
                  <a:schemeClr val="dk1"/>
                </a:solidFill>
              </a:rPr>
              <a:t>анные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17"/>
          <p:cNvSpPr/>
          <p:nvPr/>
        </p:nvSpPr>
        <p:spPr>
          <a:xfrm rot="10800000">
            <a:off x="457200" y="3823898"/>
            <a:ext cx="4613400" cy="1043666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073650" y="2968957"/>
            <a:ext cx="4613150" cy="1085277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3510437" y="1051947"/>
            <a:ext cx="1158785" cy="1149327"/>
          </a:xfrm>
          <a:custGeom>
            <a:avLst/>
            <a:gdLst/>
            <a:ahLst/>
            <a:cxnLst/>
            <a:rect l="l" t="t" r="r" b="b"/>
            <a:pathLst>
              <a:path w="25486" h="25278" extrusionOk="0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4474780" y="1895549"/>
            <a:ext cx="1158785" cy="1149327"/>
          </a:xfrm>
          <a:custGeom>
            <a:avLst/>
            <a:gdLst/>
            <a:ahLst/>
            <a:cxnLst/>
            <a:rect l="l" t="t" r="r" b="b"/>
            <a:pathLst>
              <a:path w="25486" h="25278" extrusionOk="0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3510437" y="2739152"/>
            <a:ext cx="1158785" cy="1149327"/>
          </a:xfrm>
          <a:custGeom>
            <a:avLst/>
            <a:gdLst/>
            <a:ahLst/>
            <a:cxnLst/>
            <a:rect l="l" t="t" r="r" b="b"/>
            <a:pathLst>
              <a:path w="25486" h="25278" extrusionOk="0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474780" y="3582754"/>
            <a:ext cx="1158785" cy="1149327"/>
          </a:xfrm>
          <a:custGeom>
            <a:avLst/>
            <a:gdLst/>
            <a:ahLst/>
            <a:cxnLst/>
            <a:rect l="l" t="t" r="r" b="b"/>
            <a:pathLst>
              <a:path w="25486" h="25278" extrusionOk="0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485800" y="1324975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Calls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940600" y="1755930"/>
            <a:ext cx="2517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dirty="0" err="1">
                <a:latin typeface="Roboto"/>
                <a:ea typeface="Roboto"/>
                <a:cs typeface="Roboto"/>
                <a:sym typeface="Roboto"/>
              </a:rPr>
              <a:t>Cо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держит информацию о звонках,</a:t>
            </a:r>
            <a:r>
              <a:rPr lang="de-DE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включая данные о времени,</a:t>
            </a:r>
            <a:r>
              <a:rPr lang="de-DE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продолжительности и результатах каждого звонка.</a:t>
            </a:r>
            <a:r>
              <a:rPr lang="de-DE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Позволяет отслеживать активность менеджеров по работе с клиентами и </a:t>
            </a:r>
            <a:r>
              <a:rPr lang="ru-RU" sz="800" dirty="0" err="1">
                <a:latin typeface="Roboto"/>
                <a:ea typeface="Roboto"/>
                <a:cs typeface="Roboto"/>
                <a:sym typeface="Roboto"/>
              </a:rPr>
              <a:t>аналищировать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 эффективность телефонных </a:t>
            </a:r>
            <a:r>
              <a:rPr lang="ru-RU" sz="800" dirty="0" err="1">
                <a:latin typeface="Roboto"/>
                <a:ea typeface="Roboto"/>
                <a:cs typeface="Roboto"/>
                <a:sym typeface="Roboto"/>
              </a:rPr>
              <a:t>комуникаций</a:t>
            </a:r>
            <a:endParaRPr lang="de-DE" sz="8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85800" y="2179925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 err="1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Сo</a:t>
            </a:r>
            <a:r>
              <a:rPr lang="de-DE" sz="1600" b="1" dirty="0" err="1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ntacts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85800" y="2685121"/>
            <a:ext cx="2517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Содержит данные о клиентах, имена владельцев сделок,</a:t>
            </a:r>
            <a:r>
              <a:rPr lang="de-DE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время создания и время последнего изменения контакта.</a:t>
            </a:r>
            <a:r>
              <a:rPr lang="de-DE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Помогает отслеживать историю взаимодействий и изменения в статусе контактов,</a:t>
            </a:r>
            <a:r>
              <a:rPr lang="de-DE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что является основой для управления взаимоотношения с контактами</a:t>
            </a:r>
            <a:endParaRPr sz="8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485800" y="300325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Deals</a:t>
            </a:r>
            <a:endParaRPr sz="16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940600" y="3419650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Содержит информацию о сделках,</a:t>
            </a:r>
            <a:r>
              <a:rPr lang="de-DE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включая данные о стадиях сделки,</a:t>
            </a:r>
            <a:r>
              <a:rPr lang="de-DE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владельцах сделок,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т</a:t>
            </a:r>
            <a:r>
              <a:rPr lang="ru-RU" sz="800" dirty="0" err="1">
                <a:latin typeface="Roboto"/>
                <a:ea typeface="Roboto"/>
                <a:cs typeface="Roboto"/>
                <a:sym typeface="Roboto"/>
              </a:rPr>
              <a:t>ипах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 оплаты и суммах предложений.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latin typeface="Roboto"/>
                <a:ea typeface="Roboto"/>
                <a:cs typeface="Roboto"/>
                <a:sym typeface="Roboto"/>
              </a:rPr>
              <a:t>Анализ данных из этой таблицы помогает оценить эффективность отделов продаж и успешность различных продуктов и услуг  </a:t>
            </a:r>
            <a:endParaRPr sz="8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85800" y="385645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Spend</a:t>
            </a:r>
            <a:endParaRPr sz="1600" b="1" dirty="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685800" y="4237418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Представляет собой данные о расходах на маркетинговые и рекламные кампании,</a:t>
            </a:r>
            <a:r>
              <a:rPr lang="de-DE" sz="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включая суммы затрат.</a:t>
            </a:r>
            <a:r>
              <a:rPr lang="de-DE" sz="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Позволяет анализировать рентабельность инвестиций в маркетинг и определять наиболее эффективные каналы продвижения</a:t>
            </a:r>
            <a:endParaRPr sz="8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6" name="Google Shape;176;p17"/>
          <p:cNvGrpSpPr/>
          <p:nvPr/>
        </p:nvGrpSpPr>
        <p:grpSpPr>
          <a:xfrm>
            <a:off x="4944496" y="2377602"/>
            <a:ext cx="219345" cy="227301"/>
            <a:chOff x="3357325" y="2093500"/>
            <a:chExt cx="311525" cy="322825"/>
          </a:xfrm>
        </p:grpSpPr>
        <p:sp>
          <p:nvSpPr>
            <p:cNvPr id="177" name="Google Shape;177;p17"/>
            <p:cNvSpPr/>
            <p:nvPr/>
          </p:nvSpPr>
          <p:spPr>
            <a:xfrm>
              <a:off x="3357325" y="2210550"/>
              <a:ext cx="85700" cy="205775"/>
            </a:xfrm>
            <a:custGeom>
              <a:avLst/>
              <a:gdLst/>
              <a:ahLst/>
              <a:cxnLst/>
              <a:rect l="l" t="t" r="r" b="b"/>
              <a:pathLst>
                <a:path w="3428" h="8231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3471225" y="2152075"/>
              <a:ext cx="84725" cy="264250"/>
            </a:xfrm>
            <a:custGeom>
              <a:avLst/>
              <a:gdLst/>
              <a:ahLst/>
              <a:cxnLst/>
              <a:rect l="l" t="t" r="r" b="b"/>
              <a:pathLst>
                <a:path w="3389" h="10570" extrusionOk="0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3584150" y="2093500"/>
              <a:ext cx="84700" cy="322825"/>
            </a:xfrm>
            <a:custGeom>
              <a:avLst/>
              <a:gdLst/>
              <a:ahLst/>
              <a:cxnLst/>
              <a:rect l="l" t="t" r="r" b="b"/>
              <a:pathLst>
                <a:path w="3388" h="12913" extrusionOk="0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0" name="Google Shape;180;p17"/>
          <p:cNvGrpSpPr/>
          <p:nvPr/>
        </p:nvGrpSpPr>
        <p:grpSpPr>
          <a:xfrm>
            <a:off x="3920200" y="1456990"/>
            <a:ext cx="339253" cy="339253"/>
            <a:chOff x="1492675" y="2620775"/>
            <a:chExt cx="481825" cy="481825"/>
          </a:xfrm>
        </p:grpSpPr>
        <p:sp>
          <p:nvSpPr>
            <p:cNvPr id="181" name="Google Shape;181;p17"/>
            <p:cNvSpPr/>
            <p:nvPr/>
          </p:nvSpPr>
          <p:spPr>
            <a:xfrm>
              <a:off x="1677125" y="2620775"/>
              <a:ext cx="112950" cy="113850"/>
            </a:xfrm>
            <a:custGeom>
              <a:avLst/>
              <a:gdLst/>
              <a:ahLst/>
              <a:cxnLst/>
              <a:rect l="l" t="t" r="r" b="b"/>
              <a:pathLst>
                <a:path w="4518" h="4554" extrusionOk="0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1492675" y="2734675"/>
              <a:ext cx="481825" cy="367925"/>
            </a:xfrm>
            <a:custGeom>
              <a:avLst/>
              <a:gdLst/>
              <a:ahLst/>
              <a:cxnLst/>
              <a:rect l="l" t="t" r="r" b="b"/>
              <a:pathLst>
                <a:path w="19273" h="14717" extrusionOk="0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4862792" y="3973506"/>
            <a:ext cx="382765" cy="367810"/>
            <a:chOff x="-62890750" y="3747425"/>
            <a:chExt cx="330825" cy="317900"/>
          </a:xfrm>
        </p:grpSpPr>
        <p:sp>
          <p:nvSpPr>
            <p:cNvPr id="184" name="Google Shape;184;p17"/>
            <p:cNvSpPr/>
            <p:nvPr/>
          </p:nvSpPr>
          <p:spPr>
            <a:xfrm>
              <a:off x="-62890750" y="3747425"/>
              <a:ext cx="313500" cy="195825"/>
            </a:xfrm>
            <a:custGeom>
              <a:avLst/>
              <a:gdLst/>
              <a:ahLst/>
              <a:cxnLst/>
              <a:rect l="l" t="t" r="r" b="b"/>
              <a:pathLst>
                <a:path w="12540" h="7833" extrusionOk="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-62874975" y="3869075"/>
              <a:ext cx="315050" cy="196250"/>
            </a:xfrm>
            <a:custGeom>
              <a:avLst/>
              <a:gdLst/>
              <a:ahLst/>
              <a:cxnLst/>
              <a:rect l="l" t="t" r="r" b="b"/>
              <a:pathLst>
                <a:path w="12602" h="7850" extrusionOk="0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-62751325" y="3834525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-62715100" y="3950300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-62751325" y="3950300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-62822225" y="3881000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-62715100" y="3833750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-62758425" y="3881000"/>
              <a:ext cx="22875" cy="48075"/>
            </a:xfrm>
            <a:custGeom>
              <a:avLst/>
              <a:gdLst/>
              <a:ahLst/>
              <a:cxnLst/>
              <a:rect l="l" t="t" r="r" b="b"/>
              <a:pathLst>
                <a:path w="915" h="1923" extrusionOk="0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-62715100" y="3809325"/>
              <a:ext cx="74850" cy="51225"/>
            </a:xfrm>
            <a:custGeom>
              <a:avLst/>
              <a:gdLst/>
              <a:ahLst/>
              <a:cxnLst/>
              <a:rect l="l" t="t" r="r" b="b"/>
              <a:pathLst>
                <a:path w="2994" h="2049" extrusionOk="0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-62715875" y="3950300"/>
              <a:ext cx="75625" cy="51225"/>
            </a:xfrm>
            <a:custGeom>
              <a:avLst/>
              <a:gdLst/>
              <a:ahLst/>
              <a:cxnLst/>
              <a:rect l="l" t="t" r="r" b="b"/>
              <a:pathLst>
                <a:path w="3025" h="2049" extrusionOk="0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-62811200" y="3949525"/>
              <a:ext cx="75650" cy="52000"/>
            </a:xfrm>
            <a:custGeom>
              <a:avLst/>
              <a:gdLst/>
              <a:ahLst/>
              <a:cxnLst/>
              <a:rect l="l" t="t" r="r" b="b"/>
              <a:pathLst>
                <a:path w="3026" h="2080" extrusionOk="0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-62673350" y="3881000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-62810400" y="3810125"/>
              <a:ext cx="75625" cy="51200"/>
            </a:xfrm>
            <a:custGeom>
              <a:avLst/>
              <a:gdLst/>
              <a:ahLst/>
              <a:cxnLst/>
              <a:rect l="l" t="t" r="r" b="b"/>
              <a:pathLst>
                <a:path w="3025" h="2048" extrusionOk="0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-62715100" y="3881000"/>
              <a:ext cx="22850" cy="48075"/>
            </a:xfrm>
            <a:custGeom>
              <a:avLst/>
              <a:gdLst/>
              <a:ahLst/>
              <a:cxnLst/>
              <a:rect l="l" t="t" r="r" b="b"/>
              <a:pathLst>
                <a:path w="914" h="1923" extrusionOk="0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17"/>
          <p:cNvGrpSpPr/>
          <p:nvPr/>
        </p:nvGrpSpPr>
        <p:grpSpPr>
          <a:xfrm>
            <a:off x="3905737" y="3130628"/>
            <a:ext cx="368186" cy="366364"/>
            <a:chOff x="-63679950" y="3360375"/>
            <a:chExt cx="318225" cy="316650"/>
          </a:xfrm>
        </p:grpSpPr>
        <p:sp>
          <p:nvSpPr>
            <p:cNvPr id="199" name="Google Shape;199;p17"/>
            <p:cNvSpPr/>
            <p:nvPr/>
          </p:nvSpPr>
          <p:spPr>
            <a:xfrm>
              <a:off x="-63497200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-63516900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-63618500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-63679950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7EEAE-8299-B591-6A88-5E077C99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17561"/>
            <a:ext cx="8229600" cy="481500"/>
          </a:xfrm>
        </p:spPr>
        <p:txBody>
          <a:bodyPr/>
          <a:lstStyle/>
          <a:p>
            <a:r>
              <a:rPr lang="ru-DE" dirty="0"/>
              <a:t>Анализ временных рядов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826434-41FD-2499-160C-856061CD3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6" y="599061"/>
            <a:ext cx="5119007" cy="238090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8930D7-9199-4D0D-C888-83E80E9C7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478" y="2833006"/>
            <a:ext cx="5404757" cy="2310493"/>
          </a:xfrm>
          <a:prstGeom prst="rect">
            <a:avLst/>
          </a:prstGeom>
        </p:spPr>
      </p:pic>
      <p:cxnSp>
        <p:nvCxnSpPr>
          <p:cNvPr id="11" name="Google Shape;570;p26">
            <a:extLst>
              <a:ext uri="{FF2B5EF4-FFF2-40B4-BE49-F238E27FC236}">
                <a16:creationId xmlns:a16="http://schemas.microsoft.com/office/drawing/2014/main" id="{42119940-3F35-F03E-5C60-8BAD1E8C0463}"/>
              </a:ext>
            </a:extLst>
          </p:cNvPr>
          <p:cNvCxnSpPr>
            <a:cxnSpLocks/>
          </p:cNvCxnSpPr>
          <p:nvPr/>
        </p:nvCxnSpPr>
        <p:spPr>
          <a:xfrm rot="10800000">
            <a:off x="5176015" y="1281871"/>
            <a:ext cx="2408606" cy="22601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3" name="Google Shape;565;p26">
            <a:extLst>
              <a:ext uri="{FF2B5EF4-FFF2-40B4-BE49-F238E27FC236}">
                <a16:creationId xmlns:a16="http://schemas.microsoft.com/office/drawing/2014/main" id="{E1E33343-D336-9C4B-C5B4-0305DFA2CD3A}"/>
              </a:ext>
            </a:extLst>
          </p:cNvPr>
          <p:cNvGrpSpPr/>
          <p:nvPr/>
        </p:nvGrpSpPr>
        <p:grpSpPr>
          <a:xfrm>
            <a:off x="7584621" y="1084839"/>
            <a:ext cx="423069" cy="420796"/>
            <a:chOff x="-5635200" y="2037975"/>
            <a:chExt cx="293025" cy="291450"/>
          </a:xfrm>
        </p:grpSpPr>
        <p:sp>
          <p:nvSpPr>
            <p:cNvPr id="14" name="Google Shape;566;p26">
              <a:extLst>
                <a:ext uri="{FF2B5EF4-FFF2-40B4-BE49-F238E27FC236}">
                  <a16:creationId xmlns:a16="http://schemas.microsoft.com/office/drawing/2014/main" id="{670123D3-FEC8-3974-646E-F3DDF198DB17}"/>
                </a:ext>
              </a:extLst>
            </p:cNvPr>
            <p:cNvSpPr/>
            <p:nvPr/>
          </p:nvSpPr>
          <p:spPr>
            <a:xfrm>
              <a:off x="-5635200" y="203797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567;p26">
              <a:extLst>
                <a:ext uri="{FF2B5EF4-FFF2-40B4-BE49-F238E27FC236}">
                  <a16:creationId xmlns:a16="http://schemas.microsoft.com/office/drawing/2014/main" id="{2AC67DBA-426A-00F8-4A55-6E42F7D9CD22}"/>
                </a:ext>
              </a:extLst>
            </p:cNvPr>
            <p:cNvSpPr/>
            <p:nvPr/>
          </p:nvSpPr>
          <p:spPr>
            <a:xfrm>
              <a:off x="-5496575" y="2072625"/>
              <a:ext cx="102425" cy="102425"/>
            </a:xfrm>
            <a:custGeom>
              <a:avLst/>
              <a:gdLst/>
              <a:ahLst/>
              <a:cxnLst/>
              <a:rect l="l" t="t" r="r" b="b"/>
              <a:pathLst>
                <a:path w="4097" h="4097" extrusionOk="0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20" name="Google Shape;569;p26">
            <a:extLst>
              <a:ext uri="{FF2B5EF4-FFF2-40B4-BE49-F238E27FC236}">
                <a16:creationId xmlns:a16="http://schemas.microsoft.com/office/drawing/2014/main" id="{94C681AE-5E6C-1A14-F2E3-7C88529C7E6A}"/>
              </a:ext>
            </a:extLst>
          </p:cNvPr>
          <p:cNvCxnSpPr>
            <a:cxnSpLocks/>
          </p:cNvCxnSpPr>
          <p:nvPr/>
        </p:nvCxnSpPr>
        <p:spPr>
          <a:xfrm rot="10800000">
            <a:off x="742950" y="3682094"/>
            <a:ext cx="2759528" cy="26024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2" name="Google Shape;559;p26">
            <a:extLst>
              <a:ext uri="{FF2B5EF4-FFF2-40B4-BE49-F238E27FC236}">
                <a16:creationId xmlns:a16="http://schemas.microsoft.com/office/drawing/2014/main" id="{F9C4E22D-53D2-6110-BE3C-EAE6176F3ECF}"/>
              </a:ext>
            </a:extLst>
          </p:cNvPr>
          <p:cNvGrpSpPr/>
          <p:nvPr/>
        </p:nvGrpSpPr>
        <p:grpSpPr>
          <a:xfrm>
            <a:off x="334786" y="3370708"/>
            <a:ext cx="421951" cy="419677"/>
            <a:chOff x="-4211975" y="2046625"/>
            <a:chExt cx="292250" cy="290675"/>
          </a:xfrm>
        </p:grpSpPr>
        <p:sp>
          <p:nvSpPr>
            <p:cNvPr id="23" name="Google Shape;560;p26">
              <a:extLst>
                <a:ext uri="{FF2B5EF4-FFF2-40B4-BE49-F238E27FC236}">
                  <a16:creationId xmlns:a16="http://schemas.microsoft.com/office/drawing/2014/main" id="{3C0ABAF6-71E8-2862-73B3-ACBA43945C46}"/>
                </a:ext>
              </a:extLst>
            </p:cNvPr>
            <p:cNvSpPr/>
            <p:nvPr/>
          </p:nvSpPr>
          <p:spPr>
            <a:xfrm>
              <a:off x="-4211975" y="2081300"/>
              <a:ext cx="256025" cy="256000"/>
            </a:xfrm>
            <a:custGeom>
              <a:avLst/>
              <a:gdLst/>
              <a:ahLst/>
              <a:cxnLst/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61;p26">
              <a:extLst>
                <a:ext uri="{FF2B5EF4-FFF2-40B4-BE49-F238E27FC236}">
                  <a16:creationId xmlns:a16="http://schemas.microsoft.com/office/drawing/2014/main" id="{0C2B4606-CC5C-D118-CBE3-A19EF90F4B09}"/>
                </a:ext>
              </a:extLst>
            </p:cNvPr>
            <p:cNvSpPr/>
            <p:nvPr/>
          </p:nvSpPr>
          <p:spPr>
            <a:xfrm>
              <a:off x="-4057600" y="2046625"/>
              <a:ext cx="137875" cy="137875"/>
            </a:xfrm>
            <a:custGeom>
              <a:avLst/>
              <a:gdLst/>
              <a:ahLst/>
              <a:cxnLst/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9133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E4F23-E59A-8218-A4C3-1F8C2CAC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33" y="358965"/>
            <a:ext cx="8229600" cy="481500"/>
          </a:xfrm>
        </p:spPr>
        <p:txBody>
          <a:bodyPr/>
          <a:lstStyle/>
          <a:p>
            <a:r>
              <a:rPr lang="ru-RU" dirty="0">
                <a:solidFill>
                  <a:schemeClr val="dk1"/>
                </a:solidFill>
              </a:rPr>
              <a:t>Анализ</a:t>
            </a:r>
            <a:r>
              <a:rPr lang="ru-RU" b="1" i="0" u="none" strike="noStrike" dirty="0">
                <a:effectLst/>
                <a:latin typeface="system-ui"/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эффективности кампаний</a:t>
            </a:r>
            <a:br>
              <a:rPr lang="ru-RU" b="1" i="0" u="none" strike="noStrike" dirty="0">
                <a:effectLst/>
                <a:latin typeface="system-ui"/>
              </a:rPr>
            </a:br>
            <a:endParaRPr lang="ru-DE" dirty="0"/>
          </a:p>
        </p:txBody>
      </p:sp>
      <p:pic>
        <p:nvPicPr>
          <p:cNvPr id="200" name="Рисунок 199">
            <a:extLst>
              <a:ext uri="{FF2B5EF4-FFF2-40B4-BE49-F238E27FC236}">
                <a16:creationId xmlns:a16="http://schemas.microsoft.com/office/drawing/2014/main" id="{F27E3C65-A576-CA56-837E-085D9682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" y="1305298"/>
            <a:ext cx="4254120" cy="364407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AAA86F-149A-1D01-EF93-FC93CC16F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465" y="1305298"/>
            <a:ext cx="4761480" cy="3644069"/>
          </a:xfrm>
          <a:prstGeom prst="rect">
            <a:avLst/>
          </a:prstGeom>
        </p:spPr>
      </p:pic>
      <p:sp>
        <p:nvSpPr>
          <p:cNvPr id="208" name="Google Shape;1614;p44">
            <a:extLst>
              <a:ext uri="{FF2B5EF4-FFF2-40B4-BE49-F238E27FC236}">
                <a16:creationId xmlns:a16="http://schemas.microsoft.com/office/drawing/2014/main" id="{A3C79241-A131-A84B-38CD-33699AA106D0}"/>
              </a:ext>
            </a:extLst>
          </p:cNvPr>
          <p:cNvSpPr/>
          <p:nvPr/>
        </p:nvSpPr>
        <p:spPr>
          <a:xfrm>
            <a:off x="1673312" y="742731"/>
            <a:ext cx="1386300" cy="33000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9" name="Google Shape;1615;p44">
            <a:extLst>
              <a:ext uri="{FF2B5EF4-FFF2-40B4-BE49-F238E27FC236}">
                <a16:creationId xmlns:a16="http://schemas.microsoft.com/office/drawing/2014/main" id="{D77134E3-7F2D-A0D3-462D-26706946ABBC}"/>
              </a:ext>
            </a:extLst>
          </p:cNvPr>
          <p:cNvSpPr txBox="1"/>
          <p:nvPr/>
        </p:nvSpPr>
        <p:spPr>
          <a:xfrm>
            <a:off x="1902212" y="743031"/>
            <a:ext cx="928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1</a:t>
            </a:r>
            <a:endParaRPr sz="16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0" name="Google Shape;1614;p44">
            <a:extLst>
              <a:ext uri="{FF2B5EF4-FFF2-40B4-BE49-F238E27FC236}">
                <a16:creationId xmlns:a16="http://schemas.microsoft.com/office/drawing/2014/main" id="{9298703B-A6AE-F127-D7D6-FEB9F158DF1B}"/>
              </a:ext>
            </a:extLst>
          </p:cNvPr>
          <p:cNvSpPr/>
          <p:nvPr/>
        </p:nvSpPr>
        <p:spPr>
          <a:xfrm>
            <a:off x="5937432" y="742431"/>
            <a:ext cx="1386300" cy="3300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11" name="Google Shape;1615;p44">
            <a:extLst>
              <a:ext uri="{FF2B5EF4-FFF2-40B4-BE49-F238E27FC236}">
                <a16:creationId xmlns:a16="http://schemas.microsoft.com/office/drawing/2014/main" id="{38371ED5-412F-3B27-597D-AF80E59081F2}"/>
              </a:ext>
            </a:extLst>
          </p:cNvPr>
          <p:cNvSpPr txBox="1"/>
          <p:nvPr/>
        </p:nvSpPr>
        <p:spPr>
          <a:xfrm>
            <a:off x="6166332" y="742731"/>
            <a:ext cx="928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</a:t>
            </a:r>
            <a:r>
              <a:rPr lang="ru-RU" sz="16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16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27336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4820E-60AE-AFB7-2E5E-4A4ADF0C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1475"/>
            <a:ext cx="8229600" cy="287100"/>
          </a:xfrm>
        </p:spPr>
        <p:txBody>
          <a:bodyPr/>
          <a:lstStyle/>
          <a:p>
            <a:r>
              <a:rPr lang="ru-RU" dirty="0">
                <a:solidFill>
                  <a:schemeClr val="dk1"/>
                </a:solidFill>
              </a:rPr>
              <a:t>Анализ эффективности работы отдела продаж</a:t>
            </a:r>
            <a:br>
              <a:rPr lang="ru-RU" b="1" i="0" u="none" strike="noStrike" dirty="0">
                <a:effectLst/>
                <a:latin typeface="system-ui"/>
              </a:rPr>
            </a:br>
            <a:endParaRPr lang="ru-DE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1E288B-DF62-DF64-C933-392218405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1" y="698575"/>
            <a:ext cx="6989837" cy="4367892"/>
          </a:xfrm>
          <a:prstGeom prst="rect">
            <a:avLst/>
          </a:prstGeom>
        </p:spPr>
      </p:pic>
      <p:sp>
        <p:nvSpPr>
          <p:cNvPr id="5" name="Google Shape;1240;p37">
            <a:extLst>
              <a:ext uri="{FF2B5EF4-FFF2-40B4-BE49-F238E27FC236}">
                <a16:creationId xmlns:a16="http://schemas.microsoft.com/office/drawing/2014/main" id="{59EC8D60-0D6C-0718-7801-EBE195DE34D3}"/>
              </a:ext>
            </a:extLst>
          </p:cNvPr>
          <p:cNvSpPr txBox="1"/>
          <p:nvPr/>
        </p:nvSpPr>
        <p:spPr>
          <a:xfrm>
            <a:off x="7201221" y="1938325"/>
            <a:ext cx="18732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" name="Google Shape;1241;p37">
            <a:extLst>
              <a:ext uri="{FF2B5EF4-FFF2-40B4-BE49-F238E27FC236}">
                <a16:creationId xmlns:a16="http://schemas.microsoft.com/office/drawing/2014/main" id="{66898BA5-CEBF-3B5D-B8D8-88C3C8C01C41}"/>
              </a:ext>
            </a:extLst>
          </p:cNvPr>
          <p:cNvSpPr txBox="1"/>
          <p:nvPr/>
        </p:nvSpPr>
        <p:spPr>
          <a:xfrm>
            <a:off x="5089071" y="1328725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" name="Google Shape;1242;p37">
            <a:extLst>
              <a:ext uri="{FF2B5EF4-FFF2-40B4-BE49-F238E27FC236}">
                <a16:creationId xmlns:a16="http://schemas.microsoft.com/office/drawing/2014/main" id="{BC5AF71E-508F-F10C-7573-B470042145F9}"/>
              </a:ext>
            </a:extLst>
          </p:cNvPr>
          <p:cNvSpPr txBox="1"/>
          <p:nvPr/>
        </p:nvSpPr>
        <p:spPr>
          <a:xfrm>
            <a:off x="5089071" y="3798350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" name="Google Shape;1243;p37">
            <a:extLst>
              <a:ext uri="{FF2B5EF4-FFF2-40B4-BE49-F238E27FC236}">
                <a16:creationId xmlns:a16="http://schemas.microsoft.com/office/drawing/2014/main" id="{B2196122-FBB5-7A7F-02DB-416041947AD9}"/>
              </a:ext>
            </a:extLst>
          </p:cNvPr>
          <p:cNvSpPr txBox="1"/>
          <p:nvPr/>
        </p:nvSpPr>
        <p:spPr>
          <a:xfrm>
            <a:off x="7201221" y="2225425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" name="Google Shape;1244;p37">
            <a:extLst>
              <a:ext uri="{FF2B5EF4-FFF2-40B4-BE49-F238E27FC236}">
                <a16:creationId xmlns:a16="http://schemas.microsoft.com/office/drawing/2014/main" id="{D6484ABE-572E-C37D-9702-481BD826FD9F}"/>
              </a:ext>
            </a:extLst>
          </p:cNvPr>
          <p:cNvSpPr txBox="1"/>
          <p:nvPr/>
        </p:nvSpPr>
        <p:spPr>
          <a:xfrm>
            <a:off x="7246842" y="1423799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latin typeface="Fira Sans"/>
              </a:rPr>
              <a:t>Количество сделок сильно варьируется по менеджерам</a:t>
            </a:r>
            <a:endParaRPr sz="1050" dirty="0">
              <a:latin typeface="Fira Sans"/>
              <a:sym typeface="Fira Sans"/>
            </a:endParaRPr>
          </a:p>
        </p:txBody>
      </p:sp>
      <p:sp>
        <p:nvSpPr>
          <p:cNvPr id="10" name="Google Shape;1245;p37">
            <a:extLst>
              <a:ext uri="{FF2B5EF4-FFF2-40B4-BE49-F238E27FC236}">
                <a16:creationId xmlns:a16="http://schemas.microsoft.com/office/drawing/2014/main" id="{8F34EA59-5CE9-C9A4-6D52-65577432C0D6}"/>
              </a:ext>
            </a:extLst>
          </p:cNvPr>
          <p:cNvSpPr txBox="1"/>
          <p:nvPr/>
        </p:nvSpPr>
        <p:spPr>
          <a:xfrm>
            <a:off x="7246842" y="3945207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latin typeface="Fira Sans"/>
              </a:rPr>
              <a:t>Сумма продаж также распределена неравномерно</a:t>
            </a:r>
            <a:endParaRPr sz="1050" dirty="0">
              <a:latin typeface="Fira Sans"/>
              <a:sym typeface="Fira Sans"/>
            </a:endParaRPr>
          </a:p>
        </p:txBody>
      </p:sp>
      <p:sp>
        <p:nvSpPr>
          <p:cNvPr id="12" name="Google Shape;1247;p37">
            <a:extLst>
              <a:ext uri="{FF2B5EF4-FFF2-40B4-BE49-F238E27FC236}">
                <a16:creationId xmlns:a16="http://schemas.microsoft.com/office/drawing/2014/main" id="{0D02BE0D-BFCB-4137-D6CA-FB2761B14BE7}"/>
              </a:ext>
            </a:extLst>
          </p:cNvPr>
          <p:cNvSpPr txBox="1"/>
          <p:nvPr/>
        </p:nvSpPr>
        <p:spPr>
          <a:xfrm>
            <a:off x="5089071" y="2563538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" name="Google Shape;1249;p37">
            <a:extLst>
              <a:ext uri="{FF2B5EF4-FFF2-40B4-BE49-F238E27FC236}">
                <a16:creationId xmlns:a16="http://schemas.microsoft.com/office/drawing/2014/main" id="{5F4DD877-674B-3599-4307-843ABD03600C}"/>
              </a:ext>
            </a:extLst>
          </p:cNvPr>
          <p:cNvSpPr txBox="1"/>
          <p:nvPr/>
        </p:nvSpPr>
        <p:spPr>
          <a:xfrm>
            <a:off x="7246842" y="2700260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latin typeface="Fira Sans"/>
              </a:rPr>
              <a:t>Конверсия у большинства менеджеров низкая (в пределах 0–3%)</a:t>
            </a:r>
            <a:endParaRPr sz="1050" dirty="0">
              <a:latin typeface="Fira Sans"/>
              <a:sym typeface="Fira Sans"/>
            </a:endParaRPr>
          </a:p>
        </p:txBody>
      </p:sp>
      <p:cxnSp>
        <p:nvCxnSpPr>
          <p:cNvPr id="15" name="Google Shape;1250;p37">
            <a:extLst>
              <a:ext uri="{FF2B5EF4-FFF2-40B4-BE49-F238E27FC236}">
                <a16:creationId xmlns:a16="http://schemas.microsoft.com/office/drawing/2014/main" id="{E750D5C6-FFE0-EDDB-F83C-167BAAA95B53}"/>
              </a:ext>
            </a:extLst>
          </p:cNvPr>
          <p:cNvCxnSpPr>
            <a:cxnSpLocks/>
          </p:cNvCxnSpPr>
          <p:nvPr/>
        </p:nvCxnSpPr>
        <p:spPr>
          <a:xfrm>
            <a:off x="7188567" y="3549088"/>
            <a:ext cx="0" cy="105720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257;p37">
            <a:extLst>
              <a:ext uri="{FF2B5EF4-FFF2-40B4-BE49-F238E27FC236}">
                <a16:creationId xmlns:a16="http://schemas.microsoft.com/office/drawing/2014/main" id="{FAE0E505-D21B-0685-30FB-C3FC3FE82FB8}"/>
              </a:ext>
            </a:extLst>
          </p:cNvPr>
          <p:cNvSpPr txBox="1"/>
          <p:nvPr/>
        </p:nvSpPr>
        <p:spPr>
          <a:xfrm>
            <a:off x="7246842" y="1066201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18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" name="Google Shape;1258;p37">
            <a:extLst>
              <a:ext uri="{FF2B5EF4-FFF2-40B4-BE49-F238E27FC236}">
                <a16:creationId xmlns:a16="http://schemas.microsoft.com/office/drawing/2014/main" id="{19549533-D4BF-7F61-E885-020FA563EEF4}"/>
              </a:ext>
            </a:extLst>
          </p:cNvPr>
          <p:cNvSpPr txBox="1"/>
          <p:nvPr/>
        </p:nvSpPr>
        <p:spPr>
          <a:xfrm>
            <a:off x="7246842" y="2301013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18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" name="Google Shape;1259;p37">
            <a:extLst>
              <a:ext uri="{FF2B5EF4-FFF2-40B4-BE49-F238E27FC236}">
                <a16:creationId xmlns:a16="http://schemas.microsoft.com/office/drawing/2014/main" id="{0601D412-5D3C-4E90-C85C-0FDF00B6599E}"/>
              </a:ext>
            </a:extLst>
          </p:cNvPr>
          <p:cNvSpPr txBox="1"/>
          <p:nvPr/>
        </p:nvSpPr>
        <p:spPr>
          <a:xfrm>
            <a:off x="7246842" y="3535826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18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1" name="Google Shape;1262;p37">
            <a:extLst>
              <a:ext uri="{FF2B5EF4-FFF2-40B4-BE49-F238E27FC236}">
                <a16:creationId xmlns:a16="http://schemas.microsoft.com/office/drawing/2014/main" id="{051F5A7E-E1A1-0F3B-DCEE-790A5EFD62B0}"/>
              </a:ext>
            </a:extLst>
          </p:cNvPr>
          <p:cNvCxnSpPr>
            <a:cxnSpLocks/>
          </p:cNvCxnSpPr>
          <p:nvPr/>
        </p:nvCxnSpPr>
        <p:spPr>
          <a:xfrm>
            <a:off x="7188567" y="2322038"/>
            <a:ext cx="0" cy="10572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263;p37">
            <a:extLst>
              <a:ext uri="{FF2B5EF4-FFF2-40B4-BE49-F238E27FC236}">
                <a16:creationId xmlns:a16="http://schemas.microsoft.com/office/drawing/2014/main" id="{F5546488-61D9-56B0-6CF0-386B28822830}"/>
              </a:ext>
            </a:extLst>
          </p:cNvPr>
          <p:cNvCxnSpPr>
            <a:cxnSpLocks/>
          </p:cNvCxnSpPr>
          <p:nvPr/>
        </p:nvCxnSpPr>
        <p:spPr>
          <a:xfrm>
            <a:off x="7188567" y="1094988"/>
            <a:ext cx="0" cy="1057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8122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59BAD7-B405-A94A-0B0F-07543E58F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dk1"/>
                </a:solidFill>
              </a:rPr>
              <a:t>Анализ платежей и продуктов</a:t>
            </a:r>
            <a:br>
              <a:rPr lang="ru-RU" b="1" i="0" u="none" strike="noStrike" dirty="0">
                <a:effectLst/>
                <a:latin typeface="system-ui"/>
              </a:rPr>
            </a:br>
            <a:endParaRPr lang="ru-DE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1A4A27-5389-EAF7-4801-5738D80EF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312" y="852154"/>
            <a:ext cx="5968093" cy="3972746"/>
          </a:xfrm>
          <a:prstGeom prst="rect">
            <a:avLst/>
          </a:prstGeom>
        </p:spPr>
      </p:pic>
      <p:sp>
        <p:nvSpPr>
          <p:cNvPr id="85" name="Google Shape;474;p25">
            <a:extLst>
              <a:ext uri="{FF2B5EF4-FFF2-40B4-BE49-F238E27FC236}">
                <a16:creationId xmlns:a16="http://schemas.microsoft.com/office/drawing/2014/main" id="{259606DF-504E-8BD7-557C-865CCECEFBDA}"/>
              </a:ext>
            </a:extLst>
          </p:cNvPr>
          <p:cNvSpPr/>
          <p:nvPr/>
        </p:nvSpPr>
        <p:spPr>
          <a:xfrm>
            <a:off x="317539" y="3908325"/>
            <a:ext cx="2719800" cy="698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475;p25">
            <a:extLst>
              <a:ext uri="{FF2B5EF4-FFF2-40B4-BE49-F238E27FC236}">
                <a16:creationId xmlns:a16="http://schemas.microsoft.com/office/drawing/2014/main" id="{A9E75971-EEF7-31D1-16C2-DBBC1150A7E1}"/>
              </a:ext>
            </a:extLst>
          </p:cNvPr>
          <p:cNvSpPr/>
          <p:nvPr/>
        </p:nvSpPr>
        <p:spPr>
          <a:xfrm>
            <a:off x="317539" y="2976033"/>
            <a:ext cx="2719800" cy="6981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476;p25">
            <a:extLst>
              <a:ext uri="{FF2B5EF4-FFF2-40B4-BE49-F238E27FC236}">
                <a16:creationId xmlns:a16="http://schemas.microsoft.com/office/drawing/2014/main" id="{E32558B5-52D9-14E1-D5DD-7F49E601A859}"/>
              </a:ext>
            </a:extLst>
          </p:cNvPr>
          <p:cNvSpPr/>
          <p:nvPr/>
        </p:nvSpPr>
        <p:spPr>
          <a:xfrm>
            <a:off x="317539" y="2043742"/>
            <a:ext cx="2719800" cy="69810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477;p25">
            <a:extLst>
              <a:ext uri="{FF2B5EF4-FFF2-40B4-BE49-F238E27FC236}">
                <a16:creationId xmlns:a16="http://schemas.microsoft.com/office/drawing/2014/main" id="{10339ADD-B4DE-4F54-1C83-0701A2689178}"/>
              </a:ext>
            </a:extLst>
          </p:cNvPr>
          <p:cNvSpPr/>
          <p:nvPr/>
        </p:nvSpPr>
        <p:spPr>
          <a:xfrm>
            <a:off x="317539" y="1111450"/>
            <a:ext cx="2719800" cy="698100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507;p25">
            <a:extLst>
              <a:ext uri="{FF2B5EF4-FFF2-40B4-BE49-F238E27FC236}">
                <a16:creationId xmlns:a16="http://schemas.microsoft.com/office/drawing/2014/main" id="{C59F7FB9-E438-EEB4-6CB9-1E6E16530931}"/>
              </a:ext>
            </a:extLst>
          </p:cNvPr>
          <p:cNvSpPr txBox="1"/>
          <p:nvPr/>
        </p:nvSpPr>
        <p:spPr>
          <a:xfrm>
            <a:off x="1780083" y="3145083"/>
            <a:ext cx="1006195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востребован, но слабая конверсия в оплату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Fira Sans Extra Condensed"/>
            </a:endParaRPr>
          </a:p>
        </p:txBody>
      </p:sp>
      <p:sp>
        <p:nvSpPr>
          <p:cNvPr id="90" name="Google Shape;508;p25">
            <a:extLst>
              <a:ext uri="{FF2B5EF4-FFF2-40B4-BE49-F238E27FC236}">
                <a16:creationId xmlns:a16="http://schemas.microsoft.com/office/drawing/2014/main" id="{ACACBD25-7FDD-A208-DF9C-0C9B8A888DEF}"/>
              </a:ext>
            </a:extLst>
          </p:cNvPr>
          <p:cNvSpPr txBox="1"/>
          <p:nvPr/>
        </p:nvSpPr>
        <p:spPr>
          <a:xfrm>
            <a:off x="1232514" y="3095697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" name="Google Shape;509;p25">
            <a:extLst>
              <a:ext uri="{FF2B5EF4-FFF2-40B4-BE49-F238E27FC236}">
                <a16:creationId xmlns:a16="http://schemas.microsoft.com/office/drawing/2014/main" id="{6E7C13C2-703A-DEF9-9194-12057DFEBCDF}"/>
              </a:ext>
            </a:extLst>
          </p:cNvPr>
          <p:cNvSpPr txBox="1"/>
          <p:nvPr/>
        </p:nvSpPr>
        <p:spPr>
          <a:xfrm>
            <a:off x="1377847" y="1163729"/>
            <a:ext cx="1659900" cy="55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высокий спрос, вечерний формат эффективнее → расширять </a:t>
            </a:r>
            <a:r>
              <a:rPr lang="de-DE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Evening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.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Fira Sans Extra Condensed"/>
            </a:endParaRPr>
          </a:p>
        </p:txBody>
      </p:sp>
      <p:sp>
        <p:nvSpPr>
          <p:cNvPr id="92" name="Google Shape;510;p25">
            <a:extLst>
              <a:ext uri="{FF2B5EF4-FFF2-40B4-BE49-F238E27FC236}">
                <a16:creationId xmlns:a16="http://schemas.microsoft.com/office/drawing/2014/main" id="{D8D54BC0-ECF7-C56E-6EE5-2C5462F3FE3A}"/>
              </a:ext>
            </a:extLst>
          </p:cNvPr>
          <p:cNvSpPr txBox="1"/>
          <p:nvPr/>
        </p:nvSpPr>
        <p:spPr>
          <a:xfrm>
            <a:off x="1232514" y="1230850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3" name="Google Shape;511;p25">
            <a:extLst>
              <a:ext uri="{FF2B5EF4-FFF2-40B4-BE49-F238E27FC236}">
                <a16:creationId xmlns:a16="http://schemas.microsoft.com/office/drawing/2014/main" id="{A7B1AB39-D52D-9B53-472F-90D1E5447F21}"/>
              </a:ext>
            </a:extLst>
          </p:cNvPr>
          <p:cNvSpPr txBox="1"/>
          <p:nvPr/>
        </p:nvSpPr>
        <p:spPr>
          <a:xfrm>
            <a:off x="1582101" y="2236943"/>
            <a:ext cx="125139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стабильно днём, но </a:t>
            </a:r>
            <a:r>
              <a:rPr lang="de-DE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Evening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перспективнее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Fira Sans Extra Condensed"/>
            </a:endParaRPr>
          </a:p>
        </p:txBody>
      </p:sp>
      <p:sp>
        <p:nvSpPr>
          <p:cNvPr id="94" name="Google Shape;512;p25">
            <a:extLst>
              <a:ext uri="{FF2B5EF4-FFF2-40B4-BE49-F238E27FC236}">
                <a16:creationId xmlns:a16="http://schemas.microsoft.com/office/drawing/2014/main" id="{AB3C390F-590F-D20C-E6E6-4D7EF37512B5}"/>
              </a:ext>
            </a:extLst>
          </p:cNvPr>
          <p:cNvSpPr txBox="1"/>
          <p:nvPr/>
        </p:nvSpPr>
        <p:spPr>
          <a:xfrm>
            <a:off x="1232514" y="2158177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" name="Google Shape;513;p25">
            <a:extLst>
              <a:ext uri="{FF2B5EF4-FFF2-40B4-BE49-F238E27FC236}">
                <a16:creationId xmlns:a16="http://schemas.microsoft.com/office/drawing/2014/main" id="{9A97BE97-6111-63E5-C846-E8E5201557CD}"/>
              </a:ext>
            </a:extLst>
          </p:cNvPr>
          <p:cNvSpPr txBox="1"/>
          <p:nvPr/>
        </p:nvSpPr>
        <p:spPr>
          <a:xfrm>
            <a:off x="1780083" y="4237994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6" name="Google Shape;514;p25">
            <a:extLst>
              <a:ext uri="{FF2B5EF4-FFF2-40B4-BE49-F238E27FC236}">
                <a16:creationId xmlns:a16="http://schemas.microsoft.com/office/drawing/2014/main" id="{BF681AFF-6EBC-43AD-F24F-AACCBE0F9A5A}"/>
              </a:ext>
            </a:extLst>
          </p:cNvPr>
          <p:cNvSpPr txBox="1"/>
          <p:nvPr/>
        </p:nvSpPr>
        <p:spPr>
          <a:xfrm>
            <a:off x="1232514" y="4032675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4BC113F-8FC6-FD96-EC5A-BF4DDE4FA6DA}"/>
              </a:ext>
            </a:extLst>
          </p:cNvPr>
          <p:cNvSpPr txBox="1"/>
          <p:nvPr/>
        </p:nvSpPr>
        <p:spPr>
          <a:xfrm>
            <a:off x="541596" y="1117420"/>
            <a:ext cx="1170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Digital</a:t>
            </a:r>
            <a:r>
              <a:rPr lang="de-DE" sz="20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200" b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Marketing </a:t>
            </a:r>
            <a:endParaRPr lang="ru-DE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BA18805-35B0-8AB5-FC05-CDA25AD1BFD5}"/>
              </a:ext>
            </a:extLst>
          </p:cNvPr>
          <p:cNvSpPr txBox="1"/>
          <p:nvPr/>
        </p:nvSpPr>
        <p:spPr>
          <a:xfrm>
            <a:off x="458206" y="2281465"/>
            <a:ext cx="11178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UX/UI Design</a:t>
            </a:r>
            <a:endParaRPr lang="ru-DE" sz="1200" b="1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965E7B1-CDC9-BF9E-C26E-1EF930E12192}"/>
              </a:ext>
            </a:extLst>
          </p:cNvPr>
          <p:cNvSpPr txBox="1"/>
          <p:nvPr/>
        </p:nvSpPr>
        <p:spPr>
          <a:xfrm>
            <a:off x="457200" y="3186583"/>
            <a:ext cx="12513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Web Developer</a:t>
            </a:r>
            <a:endParaRPr lang="ru-DE" sz="1200" b="1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6AE6337-3379-8572-E69B-962DA6AB5317}"/>
              </a:ext>
            </a:extLst>
          </p:cNvPr>
          <p:cNvSpPr txBox="1"/>
          <p:nvPr/>
        </p:nvSpPr>
        <p:spPr>
          <a:xfrm>
            <a:off x="1436475" y="3960094"/>
            <a:ext cx="1542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Morning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привлекает больше студентов, но </a:t>
            </a:r>
            <a:r>
              <a:rPr lang="de-DE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Evening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конвертирует лучше</a:t>
            </a:r>
            <a:endParaRPr lang="ru-DE" sz="9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38ACA0B-47FE-337D-BA2C-258AACC2874A}"/>
              </a:ext>
            </a:extLst>
          </p:cNvPr>
          <p:cNvSpPr txBox="1"/>
          <p:nvPr/>
        </p:nvSpPr>
        <p:spPr>
          <a:xfrm>
            <a:off x="457200" y="4032675"/>
            <a:ext cx="13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Общее наблюдение</a:t>
            </a:r>
            <a:endParaRPr lang="ru-DE" sz="1200" b="1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6D5C5E9-554F-5E24-AA0E-B4914D9A1D7E}"/>
              </a:ext>
            </a:extLst>
          </p:cNvPr>
          <p:cNvSpPr txBox="1"/>
          <p:nvPr/>
        </p:nvSpPr>
        <p:spPr>
          <a:xfrm>
            <a:off x="317539" y="4679006"/>
            <a:ext cx="289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балансировать маркетинг: усиливать </a:t>
            </a:r>
            <a:r>
              <a:rPr lang="de-DE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Evening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,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повышать эффективность 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Morning.</a:t>
            </a:r>
            <a:endParaRPr lang="ru-DE" sz="9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4422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4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dirty="0">
                <a:solidFill>
                  <a:schemeClr val="dk1"/>
                </a:solidFill>
              </a:rPr>
              <a:t>Конверсия по курсам (</a:t>
            </a:r>
            <a:r>
              <a:rPr lang="de-DE" dirty="0">
                <a:solidFill>
                  <a:schemeClr val="dk1"/>
                </a:solidFill>
              </a:rPr>
              <a:t>Morning </a:t>
            </a:r>
            <a:r>
              <a:rPr lang="de-DE" dirty="0" err="1">
                <a:solidFill>
                  <a:schemeClr val="dk1"/>
                </a:solidFill>
              </a:rPr>
              <a:t>vs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Evening</a:t>
            </a:r>
            <a:r>
              <a:rPr lang="de-DE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451" name="Google Shape;1451;p41"/>
          <p:cNvSpPr/>
          <p:nvPr/>
        </p:nvSpPr>
        <p:spPr>
          <a:xfrm>
            <a:off x="3303522" y="1624725"/>
            <a:ext cx="1260648" cy="326563"/>
          </a:xfrm>
          <a:custGeom>
            <a:avLst/>
            <a:gdLst/>
            <a:ahLst/>
            <a:cxnLst/>
            <a:rect l="l" t="t" r="r" b="b"/>
            <a:pathLst>
              <a:path w="39875" h="9443" extrusionOk="0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41"/>
          <p:cNvSpPr/>
          <p:nvPr/>
        </p:nvSpPr>
        <p:spPr>
          <a:xfrm>
            <a:off x="3303534" y="2236487"/>
            <a:ext cx="1260648" cy="326563"/>
          </a:xfrm>
          <a:custGeom>
            <a:avLst/>
            <a:gdLst/>
            <a:ahLst/>
            <a:cxnLst/>
            <a:rect l="l" t="t" r="r" b="b"/>
            <a:pathLst>
              <a:path w="39875" h="9443" extrusionOk="0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41"/>
          <p:cNvSpPr/>
          <p:nvPr/>
        </p:nvSpPr>
        <p:spPr>
          <a:xfrm>
            <a:off x="3303534" y="2852575"/>
            <a:ext cx="1260648" cy="326563"/>
          </a:xfrm>
          <a:custGeom>
            <a:avLst/>
            <a:gdLst/>
            <a:ahLst/>
            <a:cxnLst/>
            <a:rect l="l" t="t" r="r" b="b"/>
            <a:pathLst>
              <a:path w="39875" h="9443" extrusionOk="0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41"/>
          <p:cNvSpPr/>
          <p:nvPr/>
        </p:nvSpPr>
        <p:spPr>
          <a:xfrm>
            <a:off x="3303534" y="3466475"/>
            <a:ext cx="1260648" cy="326563"/>
          </a:xfrm>
          <a:custGeom>
            <a:avLst/>
            <a:gdLst/>
            <a:ahLst/>
            <a:cxnLst/>
            <a:rect l="l" t="t" r="r" b="b"/>
            <a:pathLst>
              <a:path w="39875" h="9443" extrusionOk="0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41"/>
          <p:cNvSpPr/>
          <p:nvPr/>
        </p:nvSpPr>
        <p:spPr>
          <a:xfrm>
            <a:off x="3303534" y="4089462"/>
            <a:ext cx="1260648" cy="326563"/>
          </a:xfrm>
          <a:custGeom>
            <a:avLst/>
            <a:gdLst/>
            <a:ahLst/>
            <a:cxnLst/>
            <a:rect l="l" t="t" r="r" b="b"/>
            <a:pathLst>
              <a:path w="39875" h="9443" extrusionOk="0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6" name="Google Shape;1456;p41"/>
          <p:cNvSpPr/>
          <p:nvPr/>
        </p:nvSpPr>
        <p:spPr>
          <a:xfrm>
            <a:off x="3092507" y="222820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12.2%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7" name="Google Shape;1457;p41"/>
          <p:cNvSpPr/>
          <p:nvPr/>
        </p:nvSpPr>
        <p:spPr>
          <a:xfrm>
            <a:off x="3092507" y="161290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7.6%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8" name="Google Shape;1458;p41"/>
          <p:cNvSpPr/>
          <p:nvPr/>
        </p:nvSpPr>
        <p:spPr>
          <a:xfrm>
            <a:off x="3092507" y="3465088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24.1%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9" name="Google Shape;1459;p41"/>
          <p:cNvSpPr/>
          <p:nvPr/>
        </p:nvSpPr>
        <p:spPr>
          <a:xfrm>
            <a:off x="3092507" y="2848213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12.3%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60" name="Google Shape;1460;p41"/>
          <p:cNvSpPr/>
          <p:nvPr/>
        </p:nvSpPr>
        <p:spPr>
          <a:xfrm>
            <a:off x="3092507" y="408035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43</a:t>
            </a:r>
            <a:r>
              <a:rPr lang="de-DE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.8%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461" name="Google Shape;1461;p41"/>
          <p:cNvCxnSpPr/>
          <p:nvPr/>
        </p:nvCxnSpPr>
        <p:spPr>
          <a:xfrm>
            <a:off x="4564145" y="1778963"/>
            <a:ext cx="21405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2" name="Google Shape;1462;p41"/>
          <p:cNvSpPr txBox="1"/>
          <p:nvPr/>
        </p:nvSpPr>
        <p:spPr>
          <a:xfrm flipH="1">
            <a:off x="717107" y="2129913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Web Developer Morning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3" name="Google Shape;1463;p41"/>
          <p:cNvCxnSpPr/>
          <p:nvPr/>
        </p:nvCxnSpPr>
        <p:spPr>
          <a:xfrm>
            <a:off x="4564145" y="2397400"/>
            <a:ext cx="1830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4" name="Google Shape;1464;p41"/>
          <p:cNvSpPr txBox="1"/>
          <p:nvPr/>
        </p:nvSpPr>
        <p:spPr>
          <a:xfrm flipH="1">
            <a:off x="717107" y="1511461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Digital Marketing Morning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5" name="Google Shape;1465;p41"/>
          <p:cNvCxnSpPr/>
          <p:nvPr/>
        </p:nvCxnSpPr>
        <p:spPr>
          <a:xfrm>
            <a:off x="4564145" y="3015838"/>
            <a:ext cx="16335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6" name="Google Shape;1466;p41"/>
          <p:cNvSpPr txBox="1"/>
          <p:nvPr/>
        </p:nvSpPr>
        <p:spPr>
          <a:xfrm flipH="1">
            <a:off x="717107" y="3982097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Digital Marketing Evening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7" name="Google Shape;1467;p41"/>
          <p:cNvCxnSpPr/>
          <p:nvPr/>
        </p:nvCxnSpPr>
        <p:spPr>
          <a:xfrm>
            <a:off x="4564145" y="3634275"/>
            <a:ext cx="1338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8" name="Google Shape;1468;p41"/>
          <p:cNvSpPr txBox="1"/>
          <p:nvPr/>
        </p:nvSpPr>
        <p:spPr>
          <a:xfrm flipH="1">
            <a:off x="717107" y="3366867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UX/UI Design Evening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9" name="Google Shape;1469;p41"/>
          <p:cNvCxnSpPr/>
          <p:nvPr/>
        </p:nvCxnSpPr>
        <p:spPr>
          <a:xfrm>
            <a:off x="4564145" y="4252713"/>
            <a:ext cx="94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70" name="Google Shape;1470;p41"/>
          <p:cNvGrpSpPr/>
          <p:nvPr/>
        </p:nvGrpSpPr>
        <p:grpSpPr>
          <a:xfrm>
            <a:off x="5159439" y="1483471"/>
            <a:ext cx="3267454" cy="3064820"/>
            <a:chOff x="710281" y="1300471"/>
            <a:chExt cx="3267454" cy="3064820"/>
          </a:xfrm>
        </p:grpSpPr>
        <p:sp>
          <p:nvSpPr>
            <p:cNvPr id="1471" name="Google Shape;1471;p41"/>
            <p:cNvSpPr/>
            <p:nvPr/>
          </p:nvSpPr>
          <p:spPr>
            <a:xfrm>
              <a:off x="2017063" y="1837786"/>
              <a:ext cx="653979" cy="122344"/>
            </a:xfrm>
            <a:custGeom>
              <a:avLst/>
              <a:gdLst/>
              <a:ahLst/>
              <a:cxnLst/>
              <a:rect l="l" t="t" r="r" b="b"/>
              <a:pathLst>
                <a:path w="26230" h="4907" extrusionOk="0">
                  <a:moveTo>
                    <a:pt x="14240" y="1"/>
                  </a:moveTo>
                  <a:lnTo>
                    <a:pt x="0" y="3454"/>
                  </a:lnTo>
                  <a:lnTo>
                    <a:pt x="17657" y="4906"/>
                  </a:lnTo>
                  <a:lnTo>
                    <a:pt x="26230" y="1144"/>
                  </a:lnTo>
                  <a:lnTo>
                    <a:pt x="14240" y="1"/>
                  </a:lnTo>
                  <a:close/>
                </a:path>
              </a:pathLst>
            </a:custGeom>
            <a:solidFill>
              <a:srgbClr val="EF9121">
                <a:alpha val="42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1690361" y="2446062"/>
              <a:ext cx="1307361" cy="124413"/>
            </a:xfrm>
            <a:custGeom>
              <a:avLst/>
              <a:gdLst/>
              <a:ahLst/>
              <a:cxnLst/>
              <a:rect l="l" t="t" r="r" b="b"/>
              <a:pathLst>
                <a:path w="52436" h="4990" extrusionOk="0">
                  <a:moveTo>
                    <a:pt x="24837" y="1"/>
                  </a:moveTo>
                  <a:lnTo>
                    <a:pt x="0" y="3930"/>
                  </a:lnTo>
                  <a:lnTo>
                    <a:pt x="40744" y="4989"/>
                  </a:lnTo>
                  <a:lnTo>
                    <a:pt x="52436" y="1751"/>
                  </a:lnTo>
                  <a:lnTo>
                    <a:pt x="2483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1363660" y="3040674"/>
              <a:ext cx="1960742" cy="189113"/>
            </a:xfrm>
            <a:custGeom>
              <a:avLst/>
              <a:gdLst/>
              <a:ahLst/>
              <a:cxnLst/>
              <a:rect l="l" t="t" r="r" b="b"/>
              <a:pathLst>
                <a:path w="78642" h="7585" extrusionOk="0">
                  <a:moveTo>
                    <a:pt x="34160" y="1"/>
                  </a:moveTo>
                  <a:lnTo>
                    <a:pt x="1" y="5251"/>
                  </a:lnTo>
                  <a:lnTo>
                    <a:pt x="62270" y="7585"/>
                  </a:lnTo>
                  <a:lnTo>
                    <a:pt x="78641" y="2775"/>
                  </a:lnTo>
                  <a:lnTo>
                    <a:pt x="34160" y="1"/>
                  </a:lnTo>
                  <a:close/>
                </a:path>
              </a:pathLst>
            </a:custGeom>
            <a:solidFill>
              <a:srgbClr val="AC4D5B">
                <a:alpha val="4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1036958" y="3716345"/>
              <a:ext cx="2614123" cy="117582"/>
            </a:xfrm>
            <a:custGeom>
              <a:avLst/>
              <a:gdLst/>
              <a:ahLst/>
              <a:cxnLst/>
              <a:rect l="l" t="t" r="r" b="b"/>
              <a:pathLst>
                <a:path w="104848" h="4716" extrusionOk="0">
                  <a:moveTo>
                    <a:pt x="34672" y="0"/>
                  </a:moveTo>
                  <a:lnTo>
                    <a:pt x="1" y="3334"/>
                  </a:lnTo>
                  <a:lnTo>
                    <a:pt x="83964" y="4715"/>
                  </a:lnTo>
                  <a:lnTo>
                    <a:pt x="104847" y="846"/>
                  </a:lnTo>
                  <a:lnTo>
                    <a:pt x="34672" y="0"/>
                  </a:lnTo>
                  <a:close/>
                </a:path>
              </a:pathLst>
            </a:custGeom>
            <a:solidFill>
              <a:srgbClr val="A11686">
                <a:alpha val="42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2017063" y="1300471"/>
              <a:ext cx="653979" cy="565818"/>
            </a:xfrm>
            <a:custGeom>
              <a:avLst/>
              <a:gdLst/>
              <a:ahLst/>
              <a:cxnLst/>
              <a:rect l="l" t="t" r="r" b="b"/>
              <a:pathLst>
                <a:path w="26230" h="22694" extrusionOk="0">
                  <a:moveTo>
                    <a:pt x="13109" y="0"/>
                  </a:moveTo>
                  <a:lnTo>
                    <a:pt x="0" y="22694"/>
                  </a:lnTo>
                  <a:lnTo>
                    <a:pt x="26230" y="22694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1690361" y="1923881"/>
              <a:ext cx="1307361" cy="565818"/>
            </a:xfrm>
            <a:custGeom>
              <a:avLst/>
              <a:gdLst/>
              <a:ahLst/>
              <a:cxnLst/>
              <a:rect l="l" t="t" r="r" b="b"/>
              <a:pathLst>
                <a:path w="52436" h="22694" extrusionOk="0">
                  <a:moveTo>
                    <a:pt x="13097" y="1"/>
                  </a:moveTo>
                  <a:lnTo>
                    <a:pt x="0" y="22694"/>
                  </a:lnTo>
                  <a:lnTo>
                    <a:pt x="52436" y="22694"/>
                  </a:lnTo>
                  <a:lnTo>
                    <a:pt x="393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1363660" y="2544025"/>
              <a:ext cx="1960742" cy="565818"/>
            </a:xfrm>
            <a:custGeom>
              <a:avLst/>
              <a:gdLst/>
              <a:ahLst/>
              <a:cxnLst/>
              <a:rect l="l" t="t" r="r" b="b"/>
              <a:pathLst>
                <a:path w="78642" h="22694" extrusionOk="0">
                  <a:moveTo>
                    <a:pt x="13109" y="1"/>
                  </a:moveTo>
                  <a:lnTo>
                    <a:pt x="1" y="22694"/>
                  </a:lnTo>
                  <a:lnTo>
                    <a:pt x="78641" y="22694"/>
                  </a:lnTo>
                  <a:lnTo>
                    <a:pt x="65545" y="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1036958" y="3171599"/>
              <a:ext cx="2614123" cy="565818"/>
            </a:xfrm>
            <a:custGeom>
              <a:avLst/>
              <a:gdLst/>
              <a:ahLst/>
              <a:cxnLst/>
              <a:rect l="l" t="t" r="r" b="b"/>
              <a:pathLst>
                <a:path w="104848" h="22694" extrusionOk="0">
                  <a:moveTo>
                    <a:pt x="13098" y="0"/>
                  </a:moveTo>
                  <a:lnTo>
                    <a:pt x="1" y="22694"/>
                  </a:lnTo>
                  <a:lnTo>
                    <a:pt x="104847" y="22694"/>
                  </a:lnTo>
                  <a:lnTo>
                    <a:pt x="91738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710281" y="3799473"/>
              <a:ext cx="3267454" cy="565818"/>
            </a:xfrm>
            <a:custGeom>
              <a:avLst/>
              <a:gdLst/>
              <a:ahLst/>
              <a:cxnLst/>
              <a:rect l="l" t="t" r="r" b="b"/>
              <a:pathLst>
                <a:path w="131052" h="22694" extrusionOk="0">
                  <a:moveTo>
                    <a:pt x="13109" y="0"/>
                  </a:moveTo>
                  <a:lnTo>
                    <a:pt x="0" y="22693"/>
                  </a:lnTo>
                  <a:lnTo>
                    <a:pt x="131052" y="22693"/>
                  </a:lnTo>
                  <a:lnTo>
                    <a:pt x="117955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0" name="Google Shape;1480;p41"/>
          <p:cNvSpPr txBox="1"/>
          <p:nvPr/>
        </p:nvSpPr>
        <p:spPr>
          <a:xfrm flipH="1">
            <a:off x="717107" y="2748401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UX/UI Design Morning 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64A1C-2E37-1F7C-043C-B7882BC3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dk1"/>
                </a:solidFill>
              </a:rPr>
              <a:t>Географический анализ</a:t>
            </a:r>
            <a:br>
              <a:rPr lang="ru-RU" b="1" i="0" u="none" strike="noStrike" dirty="0">
                <a:effectLst/>
                <a:latin typeface="system-ui"/>
              </a:rPr>
            </a:br>
            <a:endParaRPr lang="ru-DE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318766-042E-6E62-38D2-ADD0CB467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1" y="659265"/>
            <a:ext cx="4071369" cy="38249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A443BD5-AF39-6166-D872-EBF083EBF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659265"/>
            <a:ext cx="4718958" cy="3824969"/>
          </a:xfrm>
          <a:prstGeom prst="rect">
            <a:avLst/>
          </a:prstGeom>
        </p:spPr>
      </p:pic>
      <p:sp>
        <p:nvSpPr>
          <p:cNvPr id="9" name="Google Shape;1614;p44">
            <a:extLst>
              <a:ext uri="{FF2B5EF4-FFF2-40B4-BE49-F238E27FC236}">
                <a16:creationId xmlns:a16="http://schemas.microsoft.com/office/drawing/2014/main" id="{80B3252A-7147-9FC6-4552-A373C81452E7}"/>
              </a:ext>
            </a:extLst>
          </p:cNvPr>
          <p:cNvSpPr/>
          <p:nvPr/>
        </p:nvSpPr>
        <p:spPr>
          <a:xfrm>
            <a:off x="1607997" y="4642217"/>
            <a:ext cx="1386300" cy="330000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" name="Google Shape;1615;p44">
            <a:extLst>
              <a:ext uri="{FF2B5EF4-FFF2-40B4-BE49-F238E27FC236}">
                <a16:creationId xmlns:a16="http://schemas.microsoft.com/office/drawing/2014/main" id="{A299B4FF-5182-90F2-C572-76DBBAB0CA6C}"/>
              </a:ext>
            </a:extLst>
          </p:cNvPr>
          <p:cNvSpPr txBox="1"/>
          <p:nvPr/>
        </p:nvSpPr>
        <p:spPr>
          <a:xfrm>
            <a:off x="1836897" y="4642517"/>
            <a:ext cx="928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1</a:t>
            </a:r>
            <a:endParaRPr sz="16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" name="Google Shape;1614;p44">
            <a:extLst>
              <a:ext uri="{FF2B5EF4-FFF2-40B4-BE49-F238E27FC236}">
                <a16:creationId xmlns:a16="http://schemas.microsoft.com/office/drawing/2014/main" id="{261FA922-AF09-4B99-5E71-ED1595E551AA}"/>
              </a:ext>
            </a:extLst>
          </p:cNvPr>
          <p:cNvSpPr/>
          <p:nvPr/>
        </p:nvSpPr>
        <p:spPr>
          <a:xfrm>
            <a:off x="6149705" y="4567024"/>
            <a:ext cx="1386300" cy="3300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" name="Google Shape;1615;p44">
            <a:extLst>
              <a:ext uri="{FF2B5EF4-FFF2-40B4-BE49-F238E27FC236}">
                <a16:creationId xmlns:a16="http://schemas.microsoft.com/office/drawing/2014/main" id="{49AD7351-4CAA-E71D-2395-1C8136CA71B8}"/>
              </a:ext>
            </a:extLst>
          </p:cNvPr>
          <p:cNvSpPr txBox="1"/>
          <p:nvPr/>
        </p:nvSpPr>
        <p:spPr>
          <a:xfrm>
            <a:off x="6378605" y="4567324"/>
            <a:ext cx="928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</a:t>
            </a:r>
            <a:r>
              <a:rPr lang="ru-RU" sz="16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16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88658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96EF0-6271-9851-9736-8327C1CB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DE" dirty="0"/>
              <a:t>Расчет юнит</a:t>
            </a:r>
            <a:r>
              <a:rPr lang="de-DE" dirty="0"/>
              <a:t>-</a:t>
            </a:r>
            <a:r>
              <a:rPr lang="de-DE" dirty="0" err="1"/>
              <a:t>э</a:t>
            </a:r>
            <a:r>
              <a:rPr lang="ru-RU" dirty="0" err="1"/>
              <a:t>кономики</a:t>
            </a:r>
            <a:r>
              <a:rPr lang="ru-RU" dirty="0"/>
              <a:t> по </a:t>
            </a:r>
            <a:r>
              <a:rPr lang="ru-RU" dirty="0" err="1"/>
              <a:t>продктам</a:t>
            </a:r>
            <a:endParaRPr lang="ru-DE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272D95-FB1D-34FE-B781-9B5533375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82340"/>
            <a:ext cx="7772400" cy="3323116"/>
          </a:xfrm>
          <a:prstGeom prst="rect">
            <a:avLst/>
          </a:prstGeom>
        </p:spPr>
      </p:pic>
      <p:grpSp>
        <p:nvGrpSpPr>
          <p:cNvPr id="9" name="Google Shape;275;p18">
            <a:extLst>
              <a:ext uri="{FF2B5EF4-FFF2-40B4-BE49-F238E27FC236}">
                <a16:creationId xmlns:a16="http://schemas.microsoft.com/office/drawing/2014/main" id="{C2758EF9-A10F-0643-8142-D08FDC9EC026}"/>
              </a:ext>
            </a:extLst>
          </p:cNvPr>
          <p:cNvGrpSpPr/>
          <p:nvPr/>
        </p:nvGrpSpPr>
        <p:grpSpPr>
          <a:xfrm>
            <a:off x="6599117" y="2875768"/>
            <a:ext cx="19891" cy="178912"/>
            <a:chOff x="3497950" y="5106025"/>
            <a:chExt cx="28250" cy="254100"/>
          </a:xfrm>
        </p:grpSpPr>
        <p:sp>
          <p:nvSpPr>
            <p:cNvPr id="10" name="Google Shape;276;p18">
              <a:extLst>
                <a:ext uri="{FF2B5EF4-FFF2-40B4-BE49-F238E27FC236}">
                  <a16:creationId xmlns:a16="http://schemas.microsoft.com/office/drawing/2014/main" id="{22A760D6-909B-3D39-3F0F-1C3C5817FA37}"/>
                </a:ext>
              </a:extLst>
            </p:cNvPr>
            <p:cNvSpPr/>
            <p:nvPr/>
          </p:nvSpPr>
          <p:spPr>
            <a:xfrm>
              <a:off x="3497950" y="51060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277;p18">
              <a:extLst>
                <a:ext uri="{FF2B5EF4-FFF2-40B4-BE49-F238E27FC236}">
                  <a16:creationId xmlns:a16="http://schemas.microsoft.com/office/drawing/2014/main" id="{BE5B4512-FAE5-A242-0E4F-F0195E488EB9}"/>
                </a:ext>
              </a:extLst>
            </p:cNvPr>
            <p:cNvSpPr/>
            <p:nvPr/>
          </p:nvSpPr>
          <p:spPr>
            <a:xfrm>
              <a:off x="3497950" y="5218950"/>
              <a:ext cx="28250" cy="141175"/>
            </a:xfrm>
            <a:custGeom>
              <a:avLst/>
              <a:gdLst/>
              <a:ahLst/>
              <a:cxnLst/>
              <a:rect l="l" t="t" r="r" b="b"/>
              <a:pathLst>
                <a:path w="1130" h="5647" extrusionOk="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E8AC7EE-A152-7252-98BE-97ADD79C6979}"/>
              </a:ext>
            </a:extLst>
          </p:cNvPr>
          <p:cNvCxnSpPr>
            <a:cxnSpLocks/>
          </p:cNvCxnSpPr>
          <p:nvPr/>
        </p:nvCxnSpPr>
        <p:spPr>
          <a:xfrm>
            <a:off x="718200" y="3608614"/>
            <a:ext cx="774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F952BD8-3BF0-80A7-CE15-CC97F3711803}"/>
              </a:ext>
            </a:extLst>
          </p:cNvPr>
          <p:cNvCxnSpPr>
            <a:cxnSpLocks/>
          </p:cNvCxnSpPr>
          <p:nvPr/>
        </p:nvCxnSpPr>
        <p:spPr>
          <a:xfrm>
            <a:off x="718200" y="976993"/>
            <a:ext cx="7740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48BF208-46AC-8F8F-D53A-449980400147}"/>
              </a:ext>
            </a:extLst>
          </p:cNvPr>
          <p:cNvCxnSpPr>
            <a:cxnSpLocks/>
          </p:cNvCxnSpPr>
          <p:nvPr/>
        </p:nvCxnSpPr>
        <p:spPr>
          <a:xfrm>
            <a:off x="718200" y="4394570"/>
            <a:ext cx="7740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0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1D4AB-FBC1-6753-A272-7197656E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2534"/>
            <a:ext cx="8229600" cy="481500"/>
          </a:xfrm>
        </p:spPr>
        <p:txBody>
          <a:bodyPr/>
          <a:lstStyle/>
          <a:p>
            <a:r>
              <a:rPr lang="ru-DE" dirty="0"/>
              <a:t>Гипотезы</a:t>
            </a:r>
          </a:p>
        </p:txBody>
      </p:sp>
      <p:sp>
        <p:nvSpPr>
          <p:cNvPr id="3" name="Google Shape;814;p30">
            <a:extLst>
              <a:ext uri="{FF2B5EF4-FFF2-40B4-BE49-F238E27FC236}">
                <a16:creationId xmlns:a16="http://schemas.microsoft.com/office/drawing/2014/main" id="{9A546421-D063-2060-CC4D-6F3B31E4CD89}"/>
              </a:ext>
            </a:extLst>
          </p:cNvPr>
          <p:cNvSpPr/>
          <p:nvPr/>
        </p:nvSpPr>
        <p:spPr>
          <a:xfrm>
            <a:off x="1138349" y="1105430"/>
            <a:ext cx="1535100" cy="283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822;p30">
            <a:extLst>
              <a:ext uri="{FF2B5EF4-FFF2-40B4-BE49-F238E27FC236}">
                <a16:creationId xmlns:a16="http://schemas.microsoft.com/office/drawing/2014/main" id="{7A719722-07B4-3077-7DB4-C3F99C85607A}"/>
              </a:ext>
            </a:extLst>
          </p:cNvPr>
          <p:cNvSpPr txBox="1"/>
          <p:nvPr/>
        </p:nvSpPr>
        <p:spPr>
          <a:xfrm>
            <a:off x="1177801" y="1144111"/>
            <a:ext cx="1141734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Гипотеза 1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" name="Google Shape;103;p16">
            <a:extLst>
              <a:ext uri="{FF2B5EF4-FFF2-40B4-BE49-F238E27FC236}">
                <a16:creationId xmlns:a16="http://schemas.microsoft.com/office/drawing/2014/main" id="{1B21E204-A13F-1977-A7E9-45B47A32A1DB}"/>
              </a:ext>
            </a:extLst>
          </p:cNvPr>
          <p:cNvSpPr/>
          <p:nvPr/>
        </p:nvSpPr>
        <p:spPr>
          <a:xfrm>
            <a:off x="1128974" y="1555214"/>
            <a:ext cx="1565700" cy="3492988"/>
          </a:xfrm>
          <a:prstGeom prst="roundRect">
            <a:avLst>
              <a:gd name="adj" fmla="val 1145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5;p16">
            <a:extLst>
              <a:ext uri="{FF2B5EF4-FFF2-40B4-BE49-F238E27FC236}">
                <a16:creationId xmlns:a16="http://schemas.microsoft.com/office/drawing/2014/main" id="{6FCB48C2-291A-6C05-75EA-672BA66269A4}"/>
              </a:ext>
            </a:extLst>
          </p:cNvPr>
          <p:cNvSpPr txBox="1"/>
          <p:nvPr/>
        </p:nvSpPr>
        <p:spPr>
          <a:xfrm>
            <a:off x="1111457" y="1888027"/>
            <a:ext cx="1561992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Рост конверсии (</a:t>
            </a:r>
            <a:r>
              <a:rPr lang="de-DE" sz="12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C1, </a:t>
            </a:r>
            <a:r>
              <a:rPr lang="de-DE" sz="1200" dirty="0" err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Paid_rate</a:t>
            </a:r>
            <a:r>
              <a:rPr lang="de-DE" sz="12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" name="Google Shape;106;p16">
            <a:extLst>
              <a:ext uri="{FF2B5EF4-FFF2-40B4-BE49-F238E27FC236}">
                <a16:creationId xmlns:a16="http://schemas.microsoft.com/office/drawing/2014/main" id="{F575A682-67BD-5D07-6FF8-7DFB1A771B1D}"/>
              </a:ext>
            </a:extLst>
          </p:cNvPr>
          <p:cNvSpPr txBox="1"/>
          <p:nvPr/>
        </p:nvSpPr>
        <p:spPr>
          <a:xfrm>
            <a:off x="1128974" y="3205850"/>
            <a:ext cx="1639029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Подробное формулирование гипотезы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:</a:t>
            </a:r>
          </a:p>
          <a:p>
            <a:endParaRPr lang="ru-RU" sz="9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Контрольная группа: стандартные рекламные кампании без сегментации и персонализации.</a:t>
            </a:r>
          </a:p>
          <a:p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Тестовая группа: рекламные кампании с сегментацией по интересам, поведению и демографии, персонализированные </a:t>
            </a:r>
            <a:r>
              <a:rPr lang="ru-RU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офферы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email,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соцсети).</a:t>
            </a:r>
          </a:p>
          <a:p>
            <a:pPr algn="l"/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Гипотеза: персонализированные кампании увеличат </a:t>
            </a:r>
            <a:r>
              <a:rPr lang="de-DE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Paid_rate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на ≥5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pp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за 2 недели.</a:t>
            </a:r>
          </a:p>
        </p:txBody>
      </p:sp>
      <p:sp>
        <p:nvSpPr>
          <p:cNvPr id="10" name="Google Shape;132;p16">
            <a:extLst>
              <a:ext uri="{FF2B5EF4-FFF2-40B4-BE49-F238E27FC236}">
                <a16:creationId xmlns:a16="http://schemas.microsoft.com/office/drawing/2014/main" id="{5531B4B3-122F-01C0-5528-8EEB3158A58F}"/>
              </a:ext>
            </a:extLst>
          </p:cNvPr>
          <p:cNvSpPr/>
          <p:nvPr/>
        </p:nvSpPr>
        <p:spPr>
          <a:xfrm>
            <a:off x="2303124" y="1175289"/>
            <a:ext cx="753000" cy="753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39;p16">
            <a:extLst>
              <a:ext uri="{FF2B5EF4-FFF2-40B4-BE49-F238E27FC236}">
                <a16:creationId xmlns:a16="http://schemas.microsoft.com/office/drawing/2014/main" id="{3D75E631-EC7C-45F1-A73E-56472415C000}"/>
              </a:ext>
            </a:extLst>
          </p:cNvPr>
          <p:cNvGrpSpPr/>
          <p:nvPr/>
        </p:nvGrpSpPr>
        <p:grpSpPr>
          <a:xfrm>
            <a:off x="2495530" y="1368613"/>
            <a:ext cx="368186" cy="366364"/>
            <a:chOff x="-62151950" y="4111775"/>
            <a:chExt cx="318225" cy="316650"/>
          </a:xfrm>
        </p:grpSpPr>
        <p:sp>
          <p:nvSpPr>
            <p:cNvPr id="12" name="Google Shape;140;p16">
              <a:extLst>
                <a:ext uri="{FF2B5EF4-FFF2-40B4-BE49-F238E27FC236}">
                  <a16:creationId xmlns:a16="http://schemas.microsoft.com/office/drawing/2014/main" id="{7E09E284-259D-813F-7A2B-90BC7CD38402}"/>
                </a:ext>
              </a:extLst>
            </p:cNvPr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1;p16">
              <a:extLst>
                <a:ext uri="{FF2B5EF4-FFF2-40B4-BE49-F238E27FC236}">
                  <a16:creationId xmlns:a16="http://schemas.microsoft.com/office/drawing/2014/main" id="{28E59020-C888-0FC8-1ACC-3F5D045D965A}"/>
                </a:ext>
              </a:extLst>
            </p:cNvPr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2;p16">
              <a:extLst>
                <a:ext uri="{FF2B5EF4-FFF2-40B4-BE49-F238E27FC236}">
                  <a16:creationId xmlns:a16="http://schemas.microsoft.com/office/drawing/2014/main" id="{705DB9F9-404C-7F85-ED13-42433D6E3F93}"/>
                </a:ext>
              </a:extLst>
            </p:cNvPr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3;p16">
              <a:extLst>
                <a:ext uri="{FF2B5EF4-FFF2-40B4-BE49-F238E27FC236}">
                  <a16:creationId xmlns:a16="http://schemas.microsoft.com/office/drawing/2014/main" id="{E3179F64-155D-BFC0-7D65-CF1F37511D14}"/>
                </a:ext>
              </a:extLst>
            </p:cNvPr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820;p30">
            <a:extLst>
              <a:ext uri="{FF2B5EF4-FFF2-40B4-BE49-F238E27FC236}">
                <a16:creationId xmlns:a16="http://schemas.microsoft.com/office/drawing/2014/main" id="{44280114-2685-E651-A63C-E76D08BBA51E}"/>
              </a:ext>
            </a:extLst>
          </p:cNvPr>
          <p:cNvSpPr/>
          <p:nvPr/>
        </p:nvSpPr>
        <p:spPr>
          <a:xfrm>
            <a:off x="3822061" y="1105430"/>
            <a:ext cx="1535100" cy="2835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21;p30">
            <a:extLst>
              <a:ext uri="{FF2B5EF4-FFF2-40B4-BE49-F238E27FC236}">
                <a16:creationId xmlns:a16="http://schemas.microsoft.com/office/drawing/2014/main" id="{DBEEC5DE-5DDB-1387-D5F8-28416B2F666C}"/>
              </a:ext>
            </a:extLst>
          </p:cNvPr>
          <p:cNvSpPr txBox="1"/>
          <p:nvPr/>
        </p:nvSpPr>
        <p:spPr>
          <a:xfrm>
            <a:off x="3834923" y="1144280"/>
            <a:ext cx="109419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Гипотеза</a:t>
            </a:r>
            <a:r>
              <a:rPr lang="de-DE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2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" name="Google Shape;99;p16">
            <a:extLst>
              <a:ext uri="{FF2B5EF4-FFF2-40B4-BE49-F238E27FC236}">
                <a16:creationId xmlns:a16="http://schemas.microsoft.com/office/drawing/2014/main" id="{C837F0DF-098A-0EA8-5EF0-A62860BF6079}"/>
              </a:ext>
            </a:extLst>
          </p:cNvPr>
          <p:cNvSpPr/>
          <p:nvPr/>
        </p:nvSpPr>
        <p:spPr>
          <a:xfrm>
            <a:off x="3789150" y="1545924"/>
            <a:ext cx="1565700" cy="3458781"/>
          </a:xfrm>
          <a:prstGeom prst="roundRect">
            <a:avLst>
              <a:gd name="adj" fmla="val 1145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00;p16">
            <a:extLst>
              <a:ext uri="{FF2B5EF4-FFF2-40B4-BE49-F238E27FC236}">
                <a16:creationId xmlns:a16="http://schemas.microsoft.com/office/drawing/2014/main" id="{BE02A142-9770-5619-AA3B-F74A1192B033}"/>
              </a:ext>
            </a:extLst>
          </p:cNvPr>
          <p:cNvSpPr/>
          <p:nvPr/>
        </p:nvSpPr>
        <p:spPr>
          <a:xfrm>
            <a:off x="4962550" y="1165250"/>
            <a:ext cx="754500" cy="7545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09;p16">
            <a:extLst>
              <a:ext uri="{FF2B5EF4-FFF2-40B4-BE49-F238E27FC236}">
                <a16:creationId xmlns:a16="http://schemas.microsoft.com/office/drawing/2014/main" id="{5E4D7F6B-B023-3BD9-0B61-5A39AFE121AB}"/>
              </a:ext>
            </a:extLst>
          </p:cNvPr>
          <p:cNvSpPr txBox="1"/>
          <p:nvPr/>
        </p:nvSpPr>
        <p:spPr>
          <a:xfrm>
            <a:off x="3820109" y="1921409"/>
            <a:ext cx="1447341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Снижение оттока (</a:t>
            </a:r>
            <a:r>
              <a:rPr lang="de-DE" sz="1200" dirty="0" err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Lost_rate</a:t>
            </a:r>
            <a:r>
              <a:rPr lang="de-DE" sz="12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" name="Google Shape;110;p16">
            <a:extLst>
              <a:ext uri="{FF2B5EF4-FFF2-40B4-BE49-F238E27FC236}">
                <a16:creationId xmlns:a16="http://schemas.microsoft.com/office/drawing/2014/main" id="{008689A4-0AE4-D4DD-B0E0-E078EA277E77}"/>
              </a:ext>
            </a:extLst>
          </p:cNvPr>
          <p:cNvSpPr txBox="1"/>
          <p:nvPr/>
        </p:nvSpPr>
        <p:spPr>
          <a:xfrm>
            <a:off x="3789150" y="3246220"/>
            <a:ext cx="15657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Подробное формулирование гипотезы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:</a:t>
            </a:r>
            <a:endParaRPr lang="ru-RU" sz="9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algn="l"/>
            <a:endParaRPr lang="ru-RU" sz="9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algn="l"/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Контрольная группа: стандартные коммуникации без автоматических напоминаний.</a:t>
            </a:r>
          </a:p>
          <a:p>
            <a:pPr algn="l"/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Тестовая группа: автоматические напоминания, бонусы и улучшения курса.</a:t>
            </a:r>
          </a:p>
          <a:p>
            <a:pPr algn="l"/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Гипотеза: улучшение клиентского пути снизит </a:t>
            </a:r>
            <a:r>
              <a:rPr lang="de-DE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Lost_rate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минимум на 10% и увеличит </a:t>
            </a:r>
            <a:r>
              <a:rPr lang="de-DE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Paid_rate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.</a:t>
            </a:r>
          </a:p>
          <a:p>
            <a:br>
              <a:rPr lang="de-DE" sz="1600" dirty="0"/>
            </a:b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" name="Google Shape;152;p16">
            <a:extLst>
              <a:ext uri="{FF2B5EF4-FFF2-40B4-BE49-F238E27FC236}">
                <a16:creationId xmlns:a16="http://schemas.microsoft.com/office/drawing/2014/main" id="{D1C81BD4-1EF5-4C9B-0DBA-875BE1B8F01F}"/>
              </a:ext>
            </a:extLst>
          </p:cNvPr>
          <p:cNvGrpSpPr/>
          <p:nvPr/>
        </p:nvGrpSpPr>
        <p:grpSpPr>
          <a:xfrm>
            <a:off x="5156618" y="1358869"/>
            <a:ext cx="366364" cy="367290"/>
            <a:chOff x="-61783350" y="3743950"/>
            <a:chExt cx="316650" cy="317450"/>
          </a:xfrm>
        </p:grpSpPr>
        <p:sp>
          <p:nvSpPr>
            <p:cNvPr id="23" name="Google Shape;153;p16">
              <a:extLst>
                <a:ext uri="{FF2B5EF4-FFF2-40B4-BE49-F238E27FC236}">
                  <a16:creationId xmlns:a16="http://schemas.microsoft.com/office/drawing/2014/main" id="{9585356D-98B3-6D9B-77B5-246E3854B61B}"/>
                </a:ext>
              </a:extLst>
            </p:cNvPr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4;p16">
              <a:extLst>
                <a:ext uri="{FF2B5EF4-FFF2-40B4-BE49-F238E27FC236}">
                  <a16:creationId xmlns:a16="http://schemas.microsoft.com/office/drawing/2014/main" id="{938F149D-517C-66EB-195E-D90D29BAC0D7}"/>
                </a:ext>
              </a:extLst>
            </p:cNvPr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818;p30">
            <a:extLst>
              <a:ext uri="{FF2B5EF4-FFF2-40B4-BE49-F238E27FC236}">
                <a16:creationId xmlns:a16="http://schemas.microsoft.com/office/drawing/2014/main" id="{BB1E730B-7DA3-9D2F-647F-42BA27A1BF75}"/>
              </a:ext>
            </a:extLst>
          </p:cNvPr>
          <p:cNvSpPr/>
          <p:nvPr/>
        </p:nvSpPr>
        <p:spPr>
          <a:xfrm>
            <a:off x="6450076" y="1105261"/>
            <a:ext cx="1535100" cy="283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819;p30">
            <a:extLst>
              <a:ext uri="{FF2B5EF4-FFF2-40B4-BE49-F238E27FC236}">
                <a16:creationId xmlns:a16="http://schemas.microsoft.com/office/drawing/2014/main" id="{557EF9C8-B265-C3AD-B774-5C3B493D9E28}"/>
              </a:ext>
            </a:extLst>
          </p:cNvPr>
          <p:cNvSpPr txBox="1"/>
          <p:nvPr/>
        </p:nvSpPr>
        <p:spPr>
          <a:xfrm>
            <a:off x="6509426" y="1144111"/>
            <a:ext cx="111405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Гипотеза</a:t>
            </a:r>
            <a:r>
              <a:rPr lang="de-DE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3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97;p16">
            <a:extLst>
              <a:ext uri="{FF2B5EF4-FFF2-40B4-BE49-F238E27FC236}">
                <a16:creationId xmlns:a16="http://schemas.microsoft.com/office/drawing/2014/main" id="{61F6ABC3-9AA7-9BB8-F46D-6A950824D5A6}"/>
              </a:ext>
            </a:extLst>
          </p:cNvPr>
          <p:cNvSpPr/>
          <p:nvPr/>
        </p:nvSpPr>
        <p:spPr>
          <a:xfrm>
            <a:off x="6450076" y="1545754"/>
            <a:ext cx="1565700" cy="3458781"/>
          </a:xfrm>
          <a:prstGeom prst="roundRect">
            <a:avLst>
              <a:gd name="adj" fmla="val 1145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98;p16">
            <a:extLst>
              <a:ext uri="{FF2B5EF4-FFF2-40B4-BE49-F238E27FC236}">
                <a16:creationId xmlns:a16="http://schemas.microsoft.com/office/drawing/2014/main" id="{41050A60-D52D-E580-ED86-D59933AF6AFA}"/>
              </a:ext>
            </a:extLst>
          </p:cNvPr>
          <p:cNvSpPr/>
          <p:nvPr/>
        </p:nvSpPr>
        <p:spPr>
          <a:xfrm>
            <a:off x="7623476" y="1165080"/>
            <a:ext cx="754500" cy="754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07;p16">
            <a:extLst>
              <a:ext uri="{FF2B5EF4-FFF2-40B4-BE49-F238E27FC236}">
                <a16:creationId xmlns:a16="http://schemas.microsoft.com/office/drawing/2014/main" id="{9F0D47FC-DFEF-CE58-F4D1-53098C7EA32D}"/>
              </a:ext>
            </a:extLst>
          </p:cNvPr>
          <p:cNvSpPr txBox="1"/>
          <p:nvPr/>
        </p:nvSpPr>
        <p:spPr>
          <a:xfrm>
            <a:off x="6492098" y="1783462"/>
            <a:ext cx="1148707" cy="520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Портфолио под ключ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" name="Google Shape;108;p16">
            <a:extLst>
              <a:ext uri="{FF2B5EF4-FFF2-40B4-BE49-F238E27FC236}">
                <a16:creationId xmlns:a16="http://schemas.microsoft.com/office/drawing/2014/main" id="{1548FA6F-EA99-3EAE-BA1F-4D3968178995}"/>
              </a:ext>
            </a:extLst>
          </p:cNvPr>
          <p:cNvSpPr txBox="1"/>
          <p:nvPr/>
        </p:nvSpPr>
        <p:spPr>
          <a:xfrm>
            <a:off x="6492098" y="3015976"/>
            <a:ext cx="1419306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Подробное формулирование гипотезы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:</a:t>
            </a:r>
          </a:p>
          <a:p>
            <a:pPr algn="l"/>
            <a:endParaRPr lang="ru-RU" sz="9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algn="l"/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Контрольная группа: стандартный курс без пакета «портфолио под ключ».</a:t>
            </a:r>
          </a:p>
          <a:p>
            <a:pPr algn="l"/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Тестовая группа: курс + консультации по портфолио и помощь с кейсами.</a:t>
            </a:r>
          </a:p>
          <a:p>
            <a:pPr algn="l"/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-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Гипотеза: пакет «портфолио под ключ» увеличит </a:t>
            </a:r>
            <a:r>
              <a:rPr lang="de-DE" sz="9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Paid_rate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минимум на 5% и </a:t>
            </a:r>
            <a:r>
              <a:rPr lang="de-DE" sz="9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CLTV.</a:t>
            </a:r>
          </a:p>
        </p:txBody>
      </p:sp>
      <p:grpSp>
        <p:nvGrpSpPr>
          <p:cNvPr id="31" name="Google Shape;144;p16">
            <a:extLst>
              <a:ext uri="{FF2B5EF4-FFF2-40B4-BE49-F238E27FC236}">
                <a16:creationId xmlns:a16="http://schemas.microsoft.com/office/drawing/2014/main" id="{5719C945-AA02-5EAD-D211-01CD051116E7}"/>
              </a:ext>
            </a:extLst>
          </p:cNvPr>
          <p:cNvGrpSpPr/>
          <p:nvPr/>
        </p:nvGrpSpPr>
        <p:grpSpPr>
          <a:xfrm>
            <a:off x="7817544" y="1358685"/>
            <a:ext cx="366364" cy="367290"/>
            <a:chOff x="-61784125" y="3377700"/>
            <a:chExt cx="316650" cy="317450"/>
          </a:xfrm>
        </p:grpSpPr>
        <p:sp>
          <p:nvSpPr>
            <p:cNvPr id="32" name="Google Shape;145;p16">
              <a:extLst>
                <a:ext uri="{FF2B5EF4-FFF2-40B4-BE49-F238E27FC236}">
                  <a16:creationId xmlns:a16="http://schemas.microsoft.com/office/drawing/2014/main" id="{B97F5ED8-09DF-07EF-5F6B-A7EF86A011A2}"/>
                </a:ext>
              </a:extLst>
            </p:cNvPr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6;p16">
              <a:extLst>
                <a:ext uri="{FF2B5EF4-FFF2-40B4-BE49-F238E27FC236}">
                  <a16:creationId xmlns:a16="http://schemas.microsoft.com/office/drawing/2014/main" id="{7522FF9F-0680-9688-284E-5EEB54C3A5F4}"/>
                </a:ext>
              </a:extLst>
            </p:cNvPr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7;p16">
              <a:extLst>
                <a:ext uri="{FF2B5EF4-FFF2-40B4-BE49-F238E27FC236}">
                  <a16:creationId xmlns:a16="http://schemas.microsoft.com/office/drawing/2014/main" id="{2FF5D4B9-92A1-F3B4-F659-8BD9E828D909}"/>
                </a:ext>
              </a:extLst>
            </p:cNvPr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8;p16">
              <a:extLst>
                <a:ext uri="{FF2B5EF4-FFF2-40B4-BE49-F238E27FC236}">
                  <a16:creationId xmlns:a16="http://schemas.microsoft.com/office/drawing/2014/main" id="{EF32CAB7-9EAC-EB13-419D-0372ED62E5A7}"/>
                </a:ext>
              </a:extLst>
            </p:cNvPr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9;p16">
              <a:extLst>
                <a:ext uri="{FF2B5EF4-FFF2-40B4-BE49-F238E27FC236}">
                  <a16:creationId xmlns:a16="http://schemas.microsoft.com/office/drawing/2014/main" id="{73096D94-B476-D466-08D3-3DB97DF9D6C4}"/>
                </a:ext>
              </a:extLst>
            </p:cNvPr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0;p16">
              <a:extLst>
                <a:ext uri="{FF2B5EF4-FFF2-40B4-BE49-F238E27FC236}">
                  <a16:creationId xmlns:a16="http://schemas.microsoft.com/office/drawing/2014/main" id="{12A239C8-4226-810B-0B60-CA894318F827}"/>
                </a:ext>
              </a:extLst>
            </p:cNvPr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1;p16">
              <a:extLst>
                <a:ext uri="{FF2B5EF4-FFF2-40B4-BE49-F238E27FC236}">
                  <a16:creationId xmlns:a16="http://schemas.microsoft.com/office/drawing/2014/main" id="{316A2C98-D93C-4BBB-3D07-C9F73A04EA3F}"/>
                </a:ext>
              </a:extLst>
            </p:cNvPr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20395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1"/>
          <p:cNvSpPr/>
          <p:nvPr/>
        </p:nvSpPr>
        <p:spPr>
          <a:xfrm rot="-5400000">
            <a:off x="422283" y="1720542"/>
            <a:ext cx="2247883" cy="2136900"/>
          </a:xfrm>
          <a:prstGeom prst="round2SameRect">
            <a:avLst>
              <a:gd name="adj1" fmla="val 17662"/>
              <a:gd name="adj2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3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Рекомендации по продуктовой аналитике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4411434" y="1305727"/>
            <a:ext cx="487809" cy="783105"/>
          </a:xfrm>
          <a:custGeom>
            <a:avLst/>
            <a:gdLst/>
            <a:ahLst/>
            <a:cxnLst/>
            <a:rect l="l" t="t" r="r" b="b"/>
            <a:pathLst>
              <a:path w="21131" h="37211" extrusionOk="0">
                <a:moveTo>
                  <a:pt x="0" y="17523"/>
                </a:moveTo>
                <a:lnTo>
                  <a:pt x="0" y="37211"/>
                </a:lnTo>
                <a:lnTo>
                  <a:pt x="21131" y="25357"/>
                </a:lnTo>
                <a:lnTo>
                  <a:pt x="21131" y="0"/>
                </a:lnTo>
                <a:close/>
              </a:path>
            </a:pathLst>
          </a:custGeom>
          <a:solidFill>
            <a:srgbClr val="F8AA05"/>
          </a:solidFill>
          <a:ln>
            <a:noFill/>
          </a:ln>
        </p:spPr>
      </p:sp>
      <p:sp>
        <p:nvSpPr>
          <p:cNvPr id="860" name="Google Shape;860;p31"/>
          <p:cNvSpPr/>
          <p:nvPr/>
        </p:nvSpPr>
        <p:spPr>
          <a:xfrm>
            <a:off x="4417489" y="1881451"/>
            <a:ext cx="472012" cy="663651"/>
          </a:xfrm>
          <a:custGeom>
            <a:avLst/>
            <a:gdLst/>
            <a:ahLst/>
            <a:cxnLst/>
            <a:rect l="l" t="t" r="r" b="b"/>
            <a:pathLst>
              <a:path w="19766" h="34029" extrusionOk="0">
                <a:moveTo>
                  <a:pt x="19765" y="0"/>
                </a:moveTo>
                <a:lnTo>
                  <a:pt x="1" y="12299"/>
                </a:lnTo>
                <a:lnTo>
                  <a:pt x="1" y="34028"/>
                </a:lnTo>
                <a:lnTo>
                  <a:pt x="19765" y="27837"/>
                </a:lnTo>
                <a:lnTo>
                  <a:pt x="19765" y="0"/>
                </a:lnTo>
                <a:close/>
              </a:path>
            </a:pathLst>
          </a:custGeom>
          <a:solidFill>
            <a:srgbClr val="E9BD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1" name="Google Shape;861;p31"/>
          <p:cNvSpPr/>
          <p:nvPr/>
        </p:nvSpPr>
        <p:spPr>
          <a:xfrm rot="5400000">
            <a:off x="6516600" y="254251"/>
            <a:ext cx="543000" cy="3797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2647950" y="2121304"/>
            <a:ext cx="1769619" cy="423789"/>
          </a:xfrm>
          <a:custGeom>
            <a:avLst/>
            <a:gdLst/>
            <a:ahLst/>
            <a:cxnLst/>
            <a:rect l="l" t="t" r="r" b="b"/>
            <a:pathLst>
              <a:path w="65378" h="21730" extrusionOk="0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3" name="Google Shape;863;p31"/>
          <p:cNvSpPr/>
          <p:nvPr/>
        </p:nvSpPr>
        <p:spPr>
          <a:xfrm>
            <a:off x="4417489" y="1881201"/>
            <a:ext cx="472012" cy="663651"/>
          </a:xfrm>
          <a:custGeom>
            <a:avLst/>
            <a:gdLst/>
            <a:ahLst/>
            <a:cxnLst/>
            <a:rect l="l" t="t" r="r" b="b"/>
            <a:pathLst>
              <a:path w="19766" h="34029" extrusionOk="0">
                <a:moveTo>
                  <a:pt x="19765" y="0"/>
                </a:moveTo>
                <a:lnTo>
                  <a:pt x="1" y="12299"/>
                </a:lnTo>
                <a:lnTo>
                  <a:pt x="1" y="34028"/>
                </a:lnTo>
                <a:lnTo>
                  <a:pt x="19765" y="27837"/>
                </a:lnTo>
                <a:lnTo>
                  <a:pt x="19765" y="0"/>
                </a:lnTo>
                <a:close/>
              </a:path>
            </a:pathLst>
          </a:custGeom>
          <a:solidFill>
            <a:srgbClr val="C765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4" name="Google Shape;864;p31"/>
          <p:cNvSpPr/>
          <p:nvPr/>
        </p:nvSpPr>
        <p:spPr>
          <a:xfrm rot="5400000">
            <a:off x="6516450" y="829969"/>
            <a:ext cx="543000" cy="3797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5" name="Google Shape;865;p31"/>
          <p:cNvSpPr/>
          <p:nvPr/>
        </p:nvSpPr>
        <p:spPr>
          <a:xfrm>
            <a:off x="2647950" y="2577101"/>
            <a:ext cx="1769619" cy="423789"/>
          </a:xfrm>
          <a:custGeom>
            <a:avLst/>
            <a:gdLst/>
            <a:ahLst/>
            <a:cxnLst/>
            <a:rect l="l" t="t" r="r" b="b"/>
            <a:pathLst>
              <a:path w="65378" h="21730" extrusionOk="0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4417489" y="2457516"/>
            <a:ext cx="472012" cy="543379"/>
          </a:xfrm>
          <a:custGeom>
            <a:avLst/>
            <a:gdLst/>
            <a:ahLst/>
            <a:cxnLst/>
            <a:rect l="l" t="t" r="r" b="b"/>
            <a:pathLst>
              <a:path w="19766" h="27862" extrusionOk="0">
                <a:moveTo>
                  <a:pt x="19765" y="1"/>
                </a:moveTo>
                <a:lnTo>
                  <a:pt x="1" y="6132"/>
                </a:lnTo>
                <a:lnTo>
                  <a:pt x="1" y="27861"/>
                </a:lnTo>
                <a:lnTo>
                  <a:pt x="19765" y="27837"/>
                </a:lnTo>
                <a:lnTo>
                  <a:pt x="19765" y="1"/>
                </a:lnTo>
                <a:close/>
              </a:path>
            </a:pathLst>
          </a:custGeom>
          <a:solidFill>
            <a:srgbClr val="F5D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7" name="Google Shape;867;p31"/>
          <p:cNvSpPr/>
          <p:nvPr/>
        </p:nvSpPr>
        <p:spPr>
          <a:xfrm>
            <a:off x="4417489" y="2457061"/>
            <a:ext cx="472012" cy="543379"/>
          </a:xfrm>
          <a:custGeom>
            <a:avLst/>
            <a:gdLst/>
            <a:ahLst/>
            <a:cxnLst/>
            <a:rect l="l" t="t" r="r" b="b"/>
            <a:pathLst>
              <a:path w="19766" h="27862" extrusionOk="0">
                <a:moveTo>
                  <a:pt x="19765" y="1"/>
                </a:moveTo>
                <a:lnTo>
                  <a:pt x="1" y="6132"/>
                </a:lnTo>
                <a:lnTo>
                  <a:pt x="1" y="27861"/>
                </a:lnTo>
                <a:lnTo>
                  <a:pt x="19765" y="27837"/>
                </a:lnTo>
                <a:lnTo>
                  <a:pt x="19765" y="1"/>
                </a:lnTo>
                <a:close/>
              </a:path>
            </a:pathLst>
          </a:custGeom>
          <a:solidFill>
            <a:srgbClr val="8D3C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8" name="Google Shape;868;p31"/>
          <p:cNvSpPr/>
          <p:nvPr/>
        </p:nvSpPr>
        <p:spPr>
          <a:xfrm rot="5400000">
            <a:off x="6516450" y="1406223"/>
            <a:ext cx="543000" cy="3797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9" name="Google Shape;869;p31"/>
          <p:cNvSpPr/>
          <p:nvPr/>
        </p:nvSpPr>
        <p:spPr>
          <a:xfrm>
            <a:off x="2647950" y="3033132"/>
            <a:ext cx="1769619" cy="423789"/>
          </a:xfrm>
          <a:custGeom>
            <a:avLst/>
            <a:gdLst/>
            <a:ahLst/>
            <a:cxnLst/>
            <a:rect l="l" t="t" r="r" b="b"/>
            <a:pathLst>
              <a:path w="65378" h="21730" extrusionOk="0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0" name="Google Shape;870;p31"/>
          <p:cNvSpPr/>
          <p:nvPr/>
        </p:nvSpPr>
        <p:spPr>
          <a:xfrm>
            <a:off x="4417489" y="3033132"/>
            <a:ext cx="472012" cy="543359"/>
          </a:xfrm>
          <a:custGeom>
            <a:avLst/>
            <a:gdLst/>
            <a:ahLst/>
            <a:cxnLst/>
            <a:rect l="l" t="t" r="r" b="b"/>
            <a:pathLst>
              <a:path w="19766" h="27861" extrusionOk="0">
                <a:moveTo>
                  <a:pt x="1" y="0"/>
                </a:moveTo>
                <a:lnTo>
                  <a:pt x="1" y="21729"/>
                </a:lnTo>
                <a:lnTo>
                  <a:pt x="19765" y="27861"/>
                </a:lnTo>
                <a:lnTo>
                  <a:pt x="19765" y="24"/>
                </a:lnTo>
                <a:lnTo>
                  <a:pt x="1" y="0"/>
                </a:lnTo>
                <a:close/>
              </a:path>
            </a:pathLst>
          </a:custGeom>
          <a:solidFill>
            <a:srgbClr val="E75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1" name="Google Shape;871;p31"/>
          <p:cNvSpPr/>
          <p:nvPr/>
        </p:nvSpPr>
        <p:spPr>
          <a:xfrm>
            <a:off x="4417489" y="3032882"/>
            <a:ext cx="472012" cy="543359"/>
          </a:xfrm>
          <a:custGeom>
            <a:avLst/>
            <a:gdLst/>
            <a:ahLst/>
            <a:cxnLst/>
            <a:rect l="l" t="t" r="r" b="b"/>
            <a:pathLst>
              <a:path w="19766" h="27861" extrusionOk="0">
                <a:moveTo>
                  <a:pt x="1" y="0"/>
                </a:moveTo>
                <a:lnTo>
                  <a:pt x="1" y="21729"/>
                </a:lnTo>
                <a:lnTo>
                  <a:pt x="19765" y="27861"/>
                </a:lnTo>
                <a:lnTo>
                  <a:pt x="19765" y="24"/>
                </a:lnTo>
                <a:lnTo>
                  <a:pt x="1" y="0"/>
                </a:lnTo>
                <a:close/>
              </a:path>
            </a:pathLst>
          </a:custGeom>
          <a:solidFill>
            <a:srgbClr val="3D8B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2" name="Google Shape;872;p31"/>
          <p:cNvSpPr/>
          <p:nvPr/>
        </p:nvSpPr>
        <p:spPr>
          <a:xfrm rot="5400000">
            <a:off x="6516450" y="1981977"/>
            <a:ext cx="543000" cy="3797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3" name="Google Shape;873;p31"/>
          <p:cNvSpPr/>
          <p:nvPr/>
        </p:nvSpPr>
        <p:spPr>
          <a:xfrm>
            <a:off x="2647950" y="3489144"/>
            <a:ext cx="1769619" cy="423789"/>
          </a:xfrm>
          <a:custGeom>
            <a:avLst/>
            <a:gdLst/>
            <a:ahLst/>
            <a:cxnLst/>
            <a:rect l="l" t="t" r="r" b="b"/>
            <a:pathLst>
              <a:path w="65378" h="21730" extrusionOk="0">
                <a:moveTo>
                  <a:pt x="1" y="1"/>
                </a:moveTo>
                <a:lnTo>
                  <a:pt x="1" y="21730"/>
                </a:lnTo>
                <a:lnTo>
                  <a:pt x="65378" y="21730"/>
                </a:lnTo>
                <a:lnTo>
                  <a:pt x="6537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4417489" y="3489144"/>
            <a:ext cx="472012" cy="663436"/>
          </a:xfrm>
          <a:custGeom>
            <a:avLst/>
            <a:gdLst/>
            <a:ahLst/>
            <a:cxnLst/>
            <a:rect l="l" t="t" r="r" b="b"/>
            <a:pathLst>
              <a:path w="19766" h="34018" extrusionOk="0">
                <a:moveTo>
                  <a:pt x="1" y="1"/>
                </a:moveTo>
                <a:lnTo>
                  <a:pt x="1" y="21730"/>
                </a:lnTo>
                <a:lnTo>
                  <a:pt x="19765" y="34017"/>
                </a:lnTo>
                <a:lnTo>
                  <a:pt x="19765" y="6180"/>
                </a:lnTo>
                <a:lnTo>
                  <a:pt x="1" y="1"/>
                </a:lnTo>
                <a:close/>
              </a:path>
            </a:pathLst>
          </a:custGeom>
          <a:solidFill>
            <a:srgbClr val="216D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7" name="Google Shape;877;p31"/>
          <p:cNvSpPr/>
          <p:nvPr/>
        </p:nvSpPr>
        <p:spPr>
          <a:xfrm rot="5400000">
            <a:off x="6516600" y="-321475"/>
            <a:ext cx="543000" cy="3797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8" name="Google Shape;878;p31"/>
          <p:cNvSpPr/>
          <p:nvPr/>
        </p:nvSpPr>
        <p:spPr>
          <a:xfrm>
            <a:off x="2647950" y="1665074"/>
            <a:ext cx="1769619" cy="423789"/>
          </a:xfrm>
          <a:custGeom>
            <a:avLst/>
            <a:gdLst/>
            <a:ahLst/>
            <a:cxnLst/>
            <a:rect l="l" t="t" r="r" b="b"/>
            <a:pathLst>
              <a:path w="65378" h="21730" extrusionOk="0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80" name="Google Shape;880;p31"/>
          <p:cNvSpPr txBox="1"/>
          <p:nvPr/>
        </p:nvSpPr>
        <p:spPr>
          <a:xfrm>
            <a:off x="5870359" y="1306900"/>
            <a:ext cx="2565666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ru-RU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Масштабировать успешные продукты и усиливать маркетинг в сегментах с высоким </a:t>
            </a:r>
            <a:r>
              <a:rPr lang="de-DE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CLT.</a:t>
            </a:r>
          </a:p>
        </p:txBody>
      </p:sp>
      <p:sp>
        <p:nvSpPr>
          <p:cNvPr id="881" name="Google Shape;881;p31"/>
          <p:cNvSpPr txBox="1"/>
          <p:nvPr/>
        </p:nvSpPr>
        <p:spPr>
          <a:xfrm>
            <a:off x="2677213" y="172290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2" name="Google Shape;882;p31"/>
          <p:cNvSpPr txBox="1"/>
          <p:nvPr/>
        </p:nvSpPr>
        <p:spPr>
          <a:xfrm>
            <a:off x="5810194" y="1882950"/>
            <a:ext cx="262583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ru-RU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Оптимизировать путь клиента и коммуникации для продуктов с низкой конверсией.</a:t>
            </a:r>
          </a:p>
        </p:txBody>
      </p:sp>
      <p:sp>
        <p:nvSpPr>
          <p:cNvPr id="883" name="Google Shape;883;p31"/>
          <p:cNvSpPr txBox="1"/>
          <p:nvPr/>
        </p:nvSpPr>
        <p:spPr>
          <a:xfrm>
            <a:off x="6082393" y="2468538"/>
            <a:ext cx="2353632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ru-RU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Внедрить системный контроль качества данных.</a:t>
            </a:r>
          </a:p>
        </p:txBody>
      </p:sp>
      <p:sp>
        <p:nvSpPr>
          <p:cNvPr id="884" name="Google Shape;884;p31"/>
          <p:cNvSpPr txBox="1"/>
          <p:nvPr/>
        </p:nvSpPr>
        <p:spPr>
          <a:xfrm>
            <a:off x="5781949" y="3029263"/>
            <a:ext cx="265407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ru-RU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Использовать дерево метрик как основу для постоянного мониторинга и </a:t>
            </a:r>
            <a:r>
              <a:rPr lang="ru-RU" sz="1050" dirty="0" err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приоритизации</a:t>
            </a:r>
            <a:r>
              <a:rPr lang="ru-RU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гипотез.</a:t>
            </a:r>
          </a:p>
        </p:txBody>
      </p:sp>
      <p:sp>
        <p:nvSpPr>
          <p:cNvPr id="885" name="Google Shape;885;p31"/>
          <p:cNvSpPr txBox="1"/>
          <p:nvPr/>
        </p:nvSpPr>
        <p:spPr>
          <a:xfrm>
            <a:off x="2677213" y="2178338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6" name="Google Shape;886;p31"/>
          <p:cNvSpPr txBox="1"/>
          <p:nvPr/>
        </p:nvSpPr>
        <p:spPr>
          <a:xfrm>
            <a:off x="2677213" y="263445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7" name="Google Shape;887;p31"/>
          <p:cNvSpPr txBox="1"/>
          <p:nvPr/>
        </p:nvSpPr>
        <p:spPr>
          <a:xfrm>
            <a:off x="2677295" y="3090375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8" name="Google Shape;888;p31"/>
          <p:cNvSpPr txBox="1"/>
          <p:nvPr/>
        </p:nvSpPr>
        <p:spPr>
          <a:xfrm>
            <a:off x="2677175" y="354640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90" name="Google Shape;890;p31"/>
          <p:cNvSpPr txBox="1"/>
          <p:nvPr/>
        </p:nvSpPr>
        <p:spPr>
          <a:xfrm>
            <a:off x="5870359" y="3610663"/>
            <a:ext cx="256566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ru-RU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Проверять гипотезы в коротком цикле, применяя строгую методологию </a:t>
            </a:r>
            <a:r>
              <a:rPr lang="de-DE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A/B-</a:t>
            </a:r>
            <a:r>
              <a:rPr lang="ru-RU" sz="105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тестирования.</a:t>
            </a:r>
          </a:p>
        </p:txBody>
      </p:sp>
      <p:sp>
        <p:nvSpPr>
          <p:cNvPr id="891" name="Google Shape;891;p31"/>
          <p:cNvSpPr txBox="1"/>
          <p:nvPr/>
        </p:nvSpPr>
        <p:spPr>
          <a:xfrm>
            <a:off x="6724825" y="4192063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has a really beautiful name 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31"/>
          <p:cNvSpPr txBox="1"/>
          <p:nvPr/>
        </p:nvSpPr>
        <p:spPr>
          <a:xfrm>
            <a:off x="706988" y="2983938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</a:t>
            </a:r>
            <a:r>
              <a:rPr lang="de-DE" sz="1900" dirty="0" err="1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roduct</a:t>
            </a:r>
            <a:r>
              <a:rPr lang="de-DE" sz="19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</a:t>
            </a:r>
            <a:r>
              <a:rPr lang="de-DE" sz="1900" dirty="0" err="1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analytics</a:t>
            </a:r>
            <a:endParaRPr sz="19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93" name="Google Shape;893;p31"/>
          <p:cNvSpPr/>
          <p:nvPr/>
        </p:nvSpPr>
        <p:spPr>
          <a:xfrm>
            <a:off x="5611971" y="2545200"/>
            <a:ext cx="319882" cy="367463"/>
          </a:xfrm>
          <a:custGeom>
            <a:avLst/>
            <a:gdLst/>
            <a:ahLst/>
            <a:cxnLst/>
            <a:rect l="l" t="t" r="r" b="b"/>
            <a:pathLst>
              <a:path w="11059" h="12704" extrusionOk="0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4" name="Google Shape;894;p31"/>
          <p:cNvGrpSpPr/>
          <p:nvPr/>
        </p:nvGrpSpPr>
        <p:grpSpPr>
          <a:xfrm>
            <a:off x="5596019" y="1414089"/>
            <a:ext cx="351786" cy="326274"/>
            <a:chOff x="-62511900" y="4129100"/>
            <a:chExt cx="304050" cy="282000"/>
          </a:xfrm>
        </p:grpSpPr>
        <p:sp>
          <p:nvSpPr>
            <p:cNvPr id="895" name="Google Shape;895;p31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31"/>
          <p:cNvGrpSpPr/>
          <p:nvPr/>
        </p:nvGrpSpPr>
        <p:grpSpPr>
          <a:xfrm>
            <a:off x="5580530" y="1969044"/>
            <a:ext cx="382765" cy="367810"/>
            <a:chOff x="-62890750" y="3747425"/>
            <a:chExt cx="330825" cy="317900"/>
          </a:xfrm>
        </p:grpSpPr>
        <p:sp>
          <p:nvSpPr>
            <p:cNvPr id="901" name="Google Shape;901;p31"/>
            <p:cNvSpPr/>
            <p:nvPr/>
          </p:nvSpPr>
          <p:spPr>
            <a:xfrm>
              <a:off x="-62890750" y="3747425"/>
              <a:ext cx="313500" cy="195825"/>
            </a:xfrm>
            <a:custGeom>
              <a:avLst/>
              <a:gdLst/>
              <a:ahLst/>
              <a:cxnLst/>
              <a:rect l="l" t="t" r="r" b="b"/>
              <a:pathLst>
                <a:path w="12540" h="7833" extrusionOk="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-62874975" y="3869075"/>
              <a:ext cx="315050" cy="196250"/>
            </a:xfrm>
            <a:custGeom>
              <a:avLst/>
              <a:gdLst/>
              <a:ahLst/>
              <a:cxnLst/>
              <a:rect l="l" t="t" r="r" b="b"/>
              <a:pathLst>
                <a:path w="12602" h="7850" extrusionOk="0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-62751325" y="3834525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-62715100" y="3950300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-62751325" y="3950300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-62822225" y="3881000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-62715100" y="3833750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-62758425" y="3881000"/>
              <a:ext cx="22875" cy="48075"/>
            </a:xfrm>
            <a:custGeom>
              <a:avLst/>
              <a:gdLst/>
              <a:ahLst/>
              <a:cxnLst/>
              <a:rect l="l" t="t" r="r" b="b"/>
              <a:pathLst>
                <a:path w="915" h="1923" extrusionOk="0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-62715100" y="3809325"/>
              <a:ext cx="74850" cy="51225"/>
            </a:xfrm>
            <a:custGeom>
              <a:avLst/>
              <a:gdLst/>
              <a:ahLst/>
              <a:cxnLst/>
              <a:rect l="l" t="t" r="r" b="b"/>
              <a:pathLst>
                <a:path w="2994" h="2049" extrusionOk="0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-62715875" y="3950300"/>
              <a:ext cx="75625" cy="51225"/>
            </a:xfrm>
            <a:custGeom>
              <a:avLst/>
              <a:gdLst/>
              <a:ahLst/>
              <a:cxnLst/>
              <a:rect l="l" t="t" r="r" b="b"/>
              <a:pathLst>
                <a:path w="3025" h="2049" extrusionOk="0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-62811200" y="3949525"/>
              <a:ext cx="75650" cy="52000"/>
            </a:xfrm>
            <a:custGeom>
              <a:avLst/>
              <a:gdLst/>
              <a:ahLst/>
              <a:cxnLst/>
              <a:rect l="l" t="t" r="r" b="b"/>
              <a:pathLst>
                <a:path w="3026" h="2080" extrusionOk="0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-62673350" y="3881000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-62810400" y="3810125"/>
              <a:ext cx="75625" cy="51200"/>
            </a:xfrm>
            <a:custGeom>
              <a:avLst/>
              <a:gdLst/>
              <a:ahLst/>
              <a:cxnLst/>
              <a:rect l="l" t="t" r="r" b="b"/>
              <a:pathLst>
                <a:path w="3025" h="2048" extrusionOk="0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-62715100" y="3881000"/>
              <a:ext cx="22850" cy="48075"/>
            </a:xfrm>
            <a:custGeom>
              <a:avLst/>
              <a:gdLst/>
              <a:ahLst/>
              <a:cxnLst/>
              <a:rect l="l" t="t" r="r" b="b"/>
              <a:pathLst>
                <a:path w="914" h="1923" extrusionOk="0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5" name="Google Shape;915;p31"/>
          <p:cNvGrpSpPr/>
          <p:nvPr/>
        </p:nvGrpSpPr>
        <p:grpSpPr>
          <a:xfrm>
            <a:off x="5601626" y="4273007"/>
            <a:ext cx="340573" cy="339271"/>
            <a:chOff x="2085450" y="842250"/>
            <a:chExt cx="483700" cy="481850"/>
          </a:xfrm>
        </p:grpSpPr>
        <p:sp>
          <p:nvSpPr>
            <p:cNvPr id="916" name="Google Shape;916;p31"/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9" name="Google Shape;919;p31"/>
          <p:cNvGrpSpPr/>
          <p:nvPr/>
        </p:nvGrpSpPr>
        <p:grpSpPr>
          <a:xfrm>
            <a:off x="5588730" y="3697032"/>
            <a:ext cx="366364" cy="367290"/>
            <a:chOff x="-61783350" y="3743950"/>
            <a:chExt cx="316650" cy="317450"/>
          </a:xfrm>
        </p:grpSpPr>
        <p:sp>
          <p:nvSpPr>
            <p:cNvPr id="920" name="Google Shape;920;p31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2" name="Google Shape;922;p31"/>
          <p:cNvSpPr/>
          <p:nvPr/>
        </p:nvSpPr>
        <p:spPr>
          <a:xfrm>
            <a:off x="5597803" y="3131037"/>
            <a:ext cx="348217" cy="347272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3" name="Google Shape;923;p31"/>
          <p:cNvGrpSpPr/>
          <p:nvPr/>
        </p:nvGrpSpPr>
        <p:grpSpPr>
          <a:xfrm>
            <a:off x="1391289" y="2513061"/>
            <a:ext cx="342580" cy="339271"/>
            <a:chOff x="5049725" y="1435050"/>
            <a:chExt cx="486550" cy="481850"/>
          </a:xfrm>
        </p:grpSpPr>
        <p:sp>
          <p:nvSpPr>
            <p:cNvPr id="924" name="Google Shape;924;p31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2"/>
          <p:cNvSpPr/>
          <p:nvPr/>
        </p:nvSpPr>
        <p:spPr>
          <a:xfrm>
            <a:off x="897900" y="3899075"/>
            <a:ext cx="6633900" cy="833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2"/>
          <p:cNvSpPr/>
          <p:nvPr/>
        </p:nvSpPr>
        <p:spPr>
          <a:xfrm>
            <a:off x="999701" y="3987701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32"/>
          <p:cNvSpPr/>
          <p:nvPr/>
        </p:nvSpPr>
        <p:spPr>
          <a:xfrm>
            <a:off x="897900" y="3069625"/>
            <a:ext cx="7348200" cy="833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32"/>
          <p:cNvSpPr/>
          <p:nvPr/>
        </p:nvSpPr>
        <p:spPr>
          <a:xfrm>
            <a:off x="897900" y="2238550"/>
            <a:ext cx="6327600" cy="833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/>
          <p:nvPr/>
        </p:nvSpPr>
        <p:spPr>
          <a:xfrm>
            <a:off x="897900" y="1407125"/>
            <a:ext cx="7037100" cy="833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Итоговые рекомендации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7184276" y="1496701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2"/>
          <p:cNvSpPr txBox="1"/>
          <p:nvPr/>
        </p:nvSpPr>
        <p:spPr>
          <a:xfrm>
            <a:off x="1964850" y="1532075"/>
            <a:ext cx="19269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0" name="Google Shape;940;p32"/>
          <p:cNvSpPr txBox="1"/>
          <p:nvPr/>
        </p:nvSpPr>
        <p:spPr>
          <a:xfrm>
            <a:off x="1952342" y="1515475"/>
            <a:ext cx="4954644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l"/>
            <a:r>
              <a:rPr lang="ru-RU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Усилить баланс между масштабом (</a:t>
            </a:r>
            <a:r>
              <a:rPr lang="de-DE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Google, Facebook) </a:t>
            </a:r>
            <a:r>
              <a:rPr lang="ru-RU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и качеством (</a:t>
            </a:r>
            <a:r>
              <a:rPr lang="de-DE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Webinar, </a:t>
            </a:r>
            <a:r>
              <a:rPr lang="de-DE" sz="1200" dirty="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Organic</a:t>
            </a:r>
            <a:r>
              <a:rPr lang="de-DE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).</a:t>
            </a:r>
          </a:p>
        </p:txBody>
      </p:sp>
      <p:sp>
        <p:nvSpPr>
          <p:cNvPr id="941" name="Google Shape;941;p32"/>
          <p:cNvSpPr txBox="1"/>
          <p:nvPr/>
        </p:nvSpPr>
        <p:spPr>
          <a:xfrm>
            <a:off x="7184197" y="157952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19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6466052" y="2326708"/>
            <a:ext cx="657680" cy="657286"/>
          </a:xfrm>
          <a:custGeom>
            <a:avLst/>
            <a:gdLst/>
            <a:ahLst/>
            <a:cxnLst/>
            <a:rect l="l" t="t" r="r" b="b"/>
            <a:pathLst>
              <a:path w="20039" h="20027" extrusionOk="0">
                <a:moveTo>
                  <a:pt x="10013" y="0"/>
                </a:moveTo>
                <a:cubicBezTo>
                  <a:pt x="4489" y="0"/>
                  <a:pt x="0" y="4477"/>
                  <a:pt x="0" y="10013"/>
                </a:cubicBezTo>
                <a:cubicBezTo>
                  <a:pt x="0" y="15550"/>
                  <a:pt x="4489" y="20026"/>
                  <a:pt x="10013" y="20026"/>
                </a:cubicBezTo>
                <a:cubicBezTo>
                  <a:pt x="15550" y="20026"/>
                  <a:pt x="20038" y="15550"/>
                  <a:pt x="20038" y="10013"/>
                </a:cubicBezTo>
                <a:cubicBezTo>
                  <a:pt x="20038" y="4477"/>
                  <a:pt x="15550" y="0"/>
                  <a:pt x="100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2"/>
          <p:cNvSpPr txBox="1"/>
          <p:nvPr/>
        </p:nvSpPr>
        <p:spPr>
          <a:xfrm>
            <a:off x="1964850" y="2345324"/>
            <a:ext cx="19269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4" name="Google Shape;944;p32"/>
          <p:cNvSpPr txBox="1"/>
          <p:nvPr/>
        </p:nvSpPr>
        <p:spPr>
          <a:xfrm>
            <a:off x="1918500" y="2345342"/>
            <a:ext cx="4637421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Вкладывать больше ресурсов в кампании с доказанной конверсией, сокращая долю неэффективных.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32"/>
          <p:cNvSpPr txBox="1"/>
          <p:nvPr/>
        </p:nvSpPr>
        <p:spPr>
          <a:xfrm>
            <a:off x="6466225" y="240937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sz="19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46" name="Google Shape;946;p32"/>
          <p:cNvSpPr/>
          <p:nvPr/>
        </p:nvSpPr>
        <p:spPr>
          <a:xfrm>
            <a:off x="7498865" y="3156715"/>
            <a:ext cx="657286" cy="657286"/>
          </a:xfrm>
          <a:custGeom>
            <a:avLst/>
            <a:gdLst/>
            <a:ahLst/>
            <a:cxnLst/>
            <a:rect l="l" t="t" r="r" b="b"/>
            <a:pathLst>
              <a:path w="20027" h="20027" extrusionOk="0">
                <a:moveTo>
                  <a:pt x="10014" y="0"/>
                </a:moveTo>
                <a:cubicBezTo>
                  <a:pt x="4477" y="0"/>
                  <a:pt x="0" y="4477"/>
                  <a:pt x="0" y="10013"/>
                </a:cubicBezTo>
                <a:cubicBezTo>
                  <a:pt x="0" y="15538"/>
                  <a:pt x="4477" y="20026"/>
                  <a:pt x="10014" y="20026"/>
                </a:cubicBezTo>
                <a:cubicBezTo>
                  <a:pt x="15550" y="20026"/>
                  <a:pt x="20027" y="15538"/>
                  <a:pt x="20027" y="10013"/>
                </a:cubicBezTo>
                <a:cubicBezTo>
                  <a:pt x="20027" y="4477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2"/>
          <p:cNvSpPr txBox="1"/>
          <p:nvPr/>
        </p:nvSpPr>
        <p:spPr>
          <a:xfrm>
            <a:off x="1952341" y="3173425"/>
            <a:ext cx="19269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8" name="Google Shape;948;p32"/>
          <p:cNvSpPr txBox="1"/>
          <p:nvPr/>
        </p:nvSpPr>
        <p:spPr>
          <a:xfrm>
            <a:off x="1918500" y="3175208"/>
            <a:ext cx="5205025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l"/>
            <a:r>
              <a:rPr lang="ru-RU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Использовать аналитику продаж для выработки индивидуальных планов развития сотрудников.</a:t>
            </a:r>
          </a:p>
        </p:txBody>
      </p:sp>
      <p:sp>
        <p:nvSpPr>
          <p:cNvPr id="949" name="Google Shape;949;p32"/>
          <p:cNvSpPr txBox="1"/>
          <p:nvPr/>
        </p:nvSpPr>
        <p:spPr>
          <a:xfrm>
            <a:off x="7531845" y="3239205"/>
            <a:ext cx="591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19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0" name="Google Shape;950;p32"/>
          <p:cNvSpPr/>
          <p:nvPr/>
        </p:nvSpPr>
        <p:spPr>
          <a:xfrm>
            <a:off x="6791571" y="3986296"/>
            <a:ext cx="657286" cy="657713"/>
          </a:xfrm>
          <a:custGeom>
            <a:avLst/>
            <a:gdLst/>
            <a:ahLst/>
            <a:cxnLst/>
            <a:rect l="l" t="t" r="r" b="b"/>
            <a:pathLst>
              <a:path w="20027" h="20040" extrusionOk="0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2"/>
          <p:cNvSpPr txBox="1"/>
          <p:nvPr/>
        </p:nvSpPr>
        <p:spPr>
          <a:xfrm>
            <a:off x="1964850" y="4005075"/>
            <a:ext cx="19269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52" name="Google Shape;952;p32"/>
          <p:cNvSpPr txBox="1"/>
          <p:nvPr/>
        </p:nvSpPr>
        <p:spPr>
          <a:xfrm>
            <a:off x="1918501" y="4057975"/>
            <a:ext cx="4872992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r>
              <a:rPr lang="ru-RU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Акцентировать стратегию на увеличении повторных платежей и вечерних программ</a:t>
            </a:r>
            <a:r>
              <a:rPr lang="de-DE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.  </a:t>
            </a:r>
            <a:r>
              <a:rPr lang="ru-RU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А </a:t>
            </a:r>
            <a:r>
              <a:rPr lang="ru-RU" sz="1200" dirty="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тажке</a:t>
            </a:r>
            <a:r>
              <a:rPr lang="ru-RU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продолжать развивать ключевые продукты (</a:t>
            </a:r>
            <a:r>
              <a:rPr lang="de-DE" sz="12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Digital Marketing, UX/UI, Web Development).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32"/>
          <p:cNvSpPr txBox="1"/>
          <p:nvPr/>
        </p:nvSpPr>
        <p:spPr>
          <a:xfrm>
            <a:off x="6791525" y="406882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sz="19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999701" y="1496701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32"/>
          <p:cNvSpPr/>
          <p:nvPr/>
        </p:nvSpPr>
        <p:spPr>
          <a:xfrm>
            <a:off x="999701" y="2326276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2"/>
          <p:cNvSpPr/>
          <p:nvPr/>
        </p:nvSpPr>
        <p:spPr>
          <a:xfrm>
            <a:off x="999701" y="3156201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7" name="Google Shape;957;p32"/>
          <p:cNvGrpSpPr/>
          <p:nvPr/>
        </p:nvGrpSpPr>
        <p:grpSpPr>
          <a:xfrm>
            <a:off x="1145489" y="1668418"/>
            <a:ext cx="365770" cy="365770"/>
            <a:chOff x="-3137650" y="2408950"/>
            <a:chExt cx="291450" cy="292125"/>
          </a:xfrm>
        </p:grpSpPr>
        <p:sp>
          <p:nvSpPr>
            <p:cNvPr id="958" name="Google Shape;958;p32"/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2"/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2"/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3" name="Google Shape;963;p32"/>
          <p:cNvGrpSpPr/>
          <p:nvPr/>
        </p:nvGrpSpPr>
        <p:grpSpPr>
          <a:xfrm>
            <a:off x="1145487" y="2472043"/>
            <a:ext cx="365774" cy="365774"/>
            <a:chOff x="1487200" y="4993750"/>
            <a:chExt cx="483125" cy="483125"/>
          </a:xfrm>
        </p:grpSpPr>
        <p:sp>
          <p:nvSpPr>
            <p:cNvPr id="964" name="Google Shape;964;p32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66" name="Google Shape;966;p32"/>
          <p:cNvGrpSpPr/>
          <p:nvPr/>
        </p:nvGrpSpPr>
        <p:grpSpPr>
          <a:xfrm>
            <a:off x="1145493" y="3306371"/>
            <a:ext cx="365763" cy="357988"/>
            <a:chOff x="-6713450" y="2397900"/>
            <a:chExt cx="295375" cy="291450"/>
          </a:xfrm>
        </p:grpSpPr>
        <p:sp>
          <p:nvSpPr>
            <p:cNvPr id="967" name="Google Shape;967;p32"/>
            <p:cNvSpPr/>
            <p:nvPr/>
          </p:nvSpPr>
          <p:spPr>
            <a:xfrm>
              <a:off x="-6628400" y="2465650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-6713450" y="2397900"/>
              <a:ext cx="295375" cy="291450"/>
            </a:xfrm>
            <a:custGeom>
              <a:avLst/>
              <a:gdLst/>
              <a:ahLst/>
              <a:cxnLst/>
              <a:rect l="l" t="t" r="r" b="b"/>
              <a:pathLst>
                <a:path w="11815" h="11658" extrusionOk="0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32"/>
          <p:cNvGrpSpPr/>
          <p:nvPr/>
        </p:nvGrpSpPr>
        <p:grpSpPr>
          <a:xfrm>
            <a:off x="1145489" y="4134517"/>
            <a:ext cx="365770" cy="365749"/>
            <a:chOff x="-2060175" y="2768875"/>
            <a:chExt cx="291450" cy="292225"/>
          </a:xfrm>
        </p:grpSpPr>
        <p:sp>
          <p:nvSpPr>
            <p:cNvPr id="970" name="Google Shape;970;p32"/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Macintosh PowerPoint</Application>
  <PresentationFormat>Экран (16:9)</PresentationFormat>
  <Paragraphs>88</Paragraphs>
  <Slides>12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Roboto</vt:lpstr>
      <vt:lpstr>Fira Sans Extra Condensed SemiBold</vt:lpstr>
      <vt:lpstr>Arial</vt:lpstr>
      <vt:lpstr>Fira Sans Extra Condensed</vt:lpstr>
      <vt:lpstr>Fira Sans Extra Condensed Medium</vt:lpstr>
      <vt:lpstr>system-ui</vt:lpstr>
      <vt:lpstr>Fira Sans</vt:lpstr>
      <vt:lpstr>Big Data Infographics by Slidesgo</vt:lpstr>
      <vt:lpstr>Онлайн-школа программирования Х</vt:lpstr>
      <vt:lpstr>СRM система: данные </vt:lpstr>
      <vt:lpstr>Анализ временных рядов</vt:lpstr>
      <vt:lpstr>Анализ эффективности кампаний </vt:lpstr>
      <vt:lpstr>Анализ эффективности работы отдела продаж </vt:lpstr>
      <vt:lpstr>Анализ платежей и продуктов </vt:lpstr>
      <vt:lpstr>Конверсия по курсам (Morning vs Evening)</vt:lpstr>
      <vt:lpstr>Географический анализ </vt:lpstr>
      <vt:lpstr>Расчет юнит-экономики по продктам</vt:lpstr>
      <vt:lpstr>Гипотезы</vt:lpstr>
      <vt:lpstr>Рекомендации по продуктовой аналитике</vt:lpstr>
      <vt:lpstr>Итоговые рекомендации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Онлайн-школа программирования Х</dc:title>
  <cp:lastModifiedBy>Анна Загоруйко</cp:lastModifiedBy>
  <cp:revision>1</cp:revision>
  <dcterms:modified xsi:type="dcterms:W3CDTF">2025-09-25T03:05:53Z</dcterms:modified>
</cp:coreProperties>
</file>